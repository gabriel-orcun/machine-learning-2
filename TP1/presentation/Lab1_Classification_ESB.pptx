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5B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1B3A5B"/>
                </a:solidFill>
                <a:latin typeface="Georgia"/>
              </a:rPr>
              <a:t>Performance par défaut (F1 validation croisée)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(CV) — défaut</c:v>
                </c:pt>
              </c:strCache>
            </c:strRef>
          </c:tx>
          <c:spPr>
            <a:solidFill>
              <a:srgbClr val="1C9A8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9A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E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6B7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Gradient Boosting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0.354</c:v>
                </c:pt>
                <c:pt idx="1">
                  <c:v>0.339</c:v>
                </c:pt>
                <c:pt idx="2">
                  <c:v>0.315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A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5B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1B3A5B"/>
                </a:solidFill>
                <a:latin typeface="Georgia"/>
              </a:rPr>
              <a:t>Importance des variables (Random Forest)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E6E9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Nb écoles</c:v>
                  </c:pt>
                  <c:pt idx="1">
                    <c:v>Nb élèves</c:v>
                  </c:pt>
                  <c:pt idx="2">
                    <c:v>Nb bus</c:v>
                  </c:pt>
                  <c:pt idx="3">
                    <c:v>Census Region</c:v>
                  </c:pt>
                  <c:pt idx="4">
                    <c:v>Locale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0.21</c:v>
                </c:pt>
                <c:pt idx="1">
                  <c:v>0.12</c:v>
                </c:pt>
                <c:pt idx="2">
                  <c:v>0.11</c:v>
                </c:pt>
                <c:pt idx="3">
                  <c:v>0.11</c:v>
                </c:pt>
                <c:pt idx="4">
                  <c:v>0.1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E2A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— ADIF84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1 — Classification des districts scolaires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l'engagement dans les bus scolaires électriques (ESB) par forêts aléatoires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2062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4206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métier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0440" y="42062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42062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069080" y="4206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des données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42062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42062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75120" y="4206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32520" y="42062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42062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81160" y="4206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&amp; réglage du modèle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: tableau de bord des autobus scolaires électriques aux États-Unis (WRI / ESB Initiative)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Compréhension du problème métier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09728" cy="365760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 business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districts scolaires ayant une forte probabilité de </a:t>
            </a:r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s'engager dans l'adoption de bus électriques</a:t>
            </a:r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à partir de leurs caractéristiques socio-économiques, environnementales et institutionnelles.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à laquelle le modèle répond 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Ce district va-t-il s'engager dans l'électrification de sa flotte de bus scolaires ? »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54864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 cible — 0a. Has committed ESBs?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1828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district engagé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district non engagé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108960"/>
            <a:ext cx="5486400" cy="173736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de tâche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361188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binaire supervisée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apprend un modèle reliant les attributs prédictifs à un attribut-classe connu, puis on l'évalue sur des données non vues. 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supervisé : la « bonne réponse » (engagé / non) est connue à l'entraînement.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502920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E3EEF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0292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 métier :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commercial / décideur peut prioriser les districts à fort potentiel pour cibler ses démarches (subventions, offres, accompagnement).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1 : Classification des districts ESB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Compréhension des données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657600" cy="914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19 516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scolaires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23444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234440"/>
            <a:ext cx="3657600" cy="9144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10" name="Text 8"/>
          <p:cNvSpPr/>
          <p:nvPr/>
        </p:nvSpPr>
        <p:spPr>
          <a:xfrm>
            <a:off x="4361688" y="1417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361688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dans la source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66176" y="123444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1234440"/>
            <a:ext cx="3657600" cy="9144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66176" y="1417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8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7,81 %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66176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districts engagés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of U.S. Electric School Bus Adoption (World Resources Institute / ESB Initiative), feuille « District-level data ». Chaque ligne = un district scolaire.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112471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20440"/>
            <a:ext cx="109728" cy="137160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657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jeu de données fortement déséquilibré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0690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7,81 % de districts engagés. 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directe : l'accuracy devient trompeuse (un modèle qui prédit toujours « non engagé » atteindrait ≈ 92 % d'accuracy sans aucune utilité). On évaluera donc le modèle sur le </a:t>
            </a:r>
            <a:pPr indent="0" marL="0">
              <a:buNone/>
            </a:pPr>
            <a:r>
              <a:rPr lang="en-US" sz="13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de la classe positive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et on corrigera le déséquilibre par SMOTE (voir étape 3).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Exploration menée : distribution de la cible, taux d'engagement par région/zone, corrélations entre variables numériques.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1 : Classification des districts ESB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Préparation des données d'entraînement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3990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Découpage train / test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avec stratify : conserve la proportion de classes dans les deux sous-ensembles (crucial vu le déséquilibre).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5087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13990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Encodage catégoriel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17830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TargetEncoder : chaque modalité remplacée par son taux d'engagement moyen. Évite l'explosion dimensionnelle du one-hot.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1089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29992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Mise à l'échelle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3832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sur les variables numériques pour les ramener à une échelle comparable.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28346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1089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29992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 du déséquilibre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33832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appliqué UNIQUEMENT sur le train (via Pipeline imblearn) : génère des exemples synthétiques sans fuite de données.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11247120" cy="123444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46817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Sélection de variables anti-fuite (data leakage)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1520" y="50749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du bloc 3* (ESB committed/operating/delivered…) qui décrit l'engagement déjà réalisé = la cible déguisée.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 par 3 variables à fort signal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4c. Nb d'écoles (r=+0.24), 5b. % non-white/Hispanic (r=+0.18), 5o. EPA 2022 prioritized (subvention fédérale).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1 : Classification des districts ESB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4a.  Choix du modèle — comparaison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algorithmes comparés sur le même pipeline (prétraitement + SMOTE), validation croisée 5 plis, métrique F1 (classe positive)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4592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645920"/>
            <a:ext cx="53035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0" y="1645920"/>
            <a:ext cx="5303520" cy="5486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0" y="1645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comparer plusieurs modèles 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75120" y="23774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bagging d'arbres, robuste, fournit l'importance des variables (interprétable).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boosting séquentiel, souvent plus précis.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boosting optimisé, référence sur données tabulaires.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75120" y="4160520"/>
            <a:ext cx="4754880" cy="1280160"/>
          </a:xfrm>
          <a:prstGeom prst="rect">
            <a:avLst/>
          </a:prstGeom>
          <a:solidFill>
            <a:srgbClr val="E3EEF5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4279392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identique pour les 3 modèles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pipeline (prétraitement + SMOTE), même validation croisée 5 plis, même métrique F1 — pour garantir la comparabilité des résultats.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1 : Classification des districts ESB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4b.  Réglage fin (GridSearchCV)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règle finement les DEUX meilleurs (RF &amp; GB) par GridSearchCV — puis on retient le plus performant après optimisation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5852160" cy="173736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37160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par défaut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après réglage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 final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9A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9A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1ᵉʳ 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703320"/>
            <a:ext cx="5852160" cy="205740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3840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Effet du réglage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42976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défaut, Gradient Boosting devançait Random Forest (0,354 vs 0,339).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GridSearchCV, Random Forest passe en tête à 0,370.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classement des modèles dépend donc du réglage d'hyperparamètres : une comparaison par défaut ne suffit pas.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0" y="1691640"/>
            <a:ext cx="5303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836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Hyperparamètres testés (RF)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75120" y="2240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: 100 / 200 / 300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: 8 / 12 / 16 / None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 : 1 / 5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24 combinaisons × 5 plis = 120 entraînements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0" y="3703320"/>
            <a:ext cx="5303520" cy="2057400"/>
          </a:xfrm>
          <a:prstGeom prst="rect">
            <a:avLst/>
          </a:prstGeom>
          <a:solidFill>
            <a:srgbClr val="E3EE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8368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optimiser le F1 et non l'accuracy 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0" y="4206240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≈ 8 % de positifs, l'accuracy est trompeuse : un modèle constant « non engagé » atteindrait ≈ 92 % d'accuracy sans aucune utilité. Le </a:t>
            </a:r>
            <a:pPr indent="0" marL="0">
              <a:buNone/>
            </a:pPr>
            <a:r>
              <a:rPr lang="en-US" sz="125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équilibre précision et rappel</a:t>
            </a:r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la classe qui nous intéresse : les districts engagés. 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est ré-appliqué dans chaque pli de validation croisée → aucune fuite de données vers le test.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1 : Classification des districts ESB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4c.  Résultats du modèle final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657600" cy="9144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0.813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capacité de discrimination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1688" y="123444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1688" y="1234440"/>
            <a:ext cx="3657600" cy="914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1371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361688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(classe engagé)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61688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0.43 · recall 0.37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66176" y="123444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66176" y="1234440"/>
            <a:ext cx="3657600" cy="9144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16" name="Text 14"/>
          <p:cNvSpPr/>
          <p:nvPr/>
        </p:nvSpPr>
        <p:spPr>
          <a:xfrm>
            <a:off x="8266176" y="1371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8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0,91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266176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globale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66176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3 904 districts de test</a:t>
            </a:r>
            <a:endParaRPr lang="en-US" sz="10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2971800"/>
          <a:ext cx="59436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6583680" y="2971800"/>
            <a:ext cx="5120640" cy="265176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812280" y="3108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Interprétation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812280" y="3520440"/>
            <a:ext cx="4709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taille du district (nombre d'écoles, d'élèves, de bus) domine l'importance des variables : plus un district est grand, plus il a de moyens pour s'engager.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facteurs hors dataset (volonté politique locale, budgets d'État, programmes spécifiques) ne sont pas pris en compte et limitent le pouvoir prédictif du modèle.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1 : Classification des districts ESB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pistes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Démarche validée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de variables justifiée et anti-fuite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robuste (split stratifié, SMOTE sans fuite)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 3 modèles puis réglage des 2 finalistes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 : Random Forest (F1 CV 0.370, AUC 0.81)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Pistes d'amélioration (TRL / B206)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210312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Ajuster le seuil de décision selon le coût métier d'un faux négatif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avec d'autres variables (programmes d'État)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un ré-équilibrage par pondération de classe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120640"/>
            <a:ext cx="10698480" cy="1005840"/>
          </a:xfrm>
          <a:prstGeom prst="rect">
            <a:avLst/>
          </a:prstGeom>
          <a:solidFill>
            <a:srgbClr val="24496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512064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final : Random Forest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= 0,81   ·   F1 (classe engagé) = 0,40   ·   accuracy = 0,91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 — Classification ESB</dc:title>
  <dc:subject>PptxGenJS Presentation</dc:subject>
  <dc:creator>Equipe ML II</dc:creator>
  <cp:lastModifiedBy>Equipe ML II</cp:lastModifiedBy>
  <cp:revision>1</cp:revision>
  <dcterms:created xsi:type="dcterms:W3CDTF">2026-05-27T13:40:10Z</dcterms:created>
  <dcterms:modified xsi:type="dcterms:W3CDTF">2026-05-27T13:40:10Z</dcterms:modified>
</cp:coreProperties>
</file>