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15"/>
    <p:sldId id="265" r:id="rId16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B3A5B"/>
                </a:solidFill>
                <a:latin typeface="Georgia"/>
              </a:rPr>
              <a:t>Performance par défaut (F1 validation croisée)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(CV) — défaut</c:v>
                </c:pt>
              </c:strCache>
            </c:strRef>
          </c:tx>
          <c:spPr>
            <a:solidFill>
              <a:srgbClr val="1C9A8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9A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Gradient Boosting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0.354</c:v>
                </c:pt>
                <c:pt idx="1">
                  <c:v>0.339</c:v>
                </c:pt>
                <c:pt idx="2">
                  <c:v>0.315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B3A5B"/>
                </a:solidFill>
                <a:latin typeface="Georgia"/>
              </a:rPr>
              <a:t>Importance des variables (Random Forest)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E6E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Nb écoles</c:v>
                  </c:pt>
                  <c:pt idx="1">
                    <c:v>Nb élèves</c:v>
                  </c:pt>
                  <c:pt idx="2">
                    <c:v>Nb bus</c:v>
                  </c:pt>
                  <c:pt idx="3">
                    <c:v>Census Region</c:v>
                  </c:pt>
                  <c:pt idx="4">
                    <c:v>Locale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</c:v>
                </c:pt>
                <c:pt idx="1">
                  <c:v>0.12</c:v>
                </c:pt>
                <c:pt idx="2">
                  <c:v>0.11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— ADIF84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 — Classification des districts scolaires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l'engagement dans les bus scolaires électriques (ESB) par forêts aléatoires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6908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des données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réglage du modèle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tableau de bord des autobus scolaires électriques aux États-Unis (WRI / ESB Initiative)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Compréhension du problème métier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36576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business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Identifier les districts scolaires ayant une forte probabilité de </a:t>
            </a:r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s'engager dans l'adoption de bus électriques</a:t>
            </a:r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à partir de leurs caractéristiques socio-économiques, environnementales et institutionnelles.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à laquelle le modèle répond 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 district va-t-il s'engager dans l'électrification de sa flotte de bus scolaires ? 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4864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cible — 0a. Has committed ESBs?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= district engagé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= district non engagé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108960"/>
            <a:ext cx="5486400" cy="17373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de tâche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supervisée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 apprend un modèle reliant les attributs prédictifs à un attribut-classe connu, puis on l'évalue sur des données non vues. 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supervisé : la « bonne réponse » (engagé / non) est connue à l'entraînement.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Intérêt métier :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commercial / décideur peut prioriser les districts à fort potentiel pour cibler ses démarches (subventions, offres, accompagnement).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Compréhension des données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19 516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scolaires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234440"/>
            <a:ext cx="3657600" cy="9144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61688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dans la source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66176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23444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7,81 %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66176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districts engagés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of U.S. Electric School Bus Adoption (World Resources Institute / ESB Initiative), feuille « District-level data ». Chaque ligne = un district scolaire.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109728" cy="137160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57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jeu de données fortement déséquilibré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Seulement 7,81 % de districts engagés.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Conséquence directe : l'accuracy devient trompeuse (un modèle qui prédit toujours « non engagé » atteindrait ≈ 92 % d'accuracy sans aucune utilité). On évaluera donc le modèle sur le </a:t>
            </a:r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de la classe positive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 on corrigera le déséquilibre par SMOTE (voir étape 3).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Exploration menée : distribution de la cible, taux d'engagement par région/zone, corrélations entre variables numériques.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Préparation des données d'entraînement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Découpage train / test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avec stratify : conserve la proportion de classes dans les deux sous-ensembles (crucial vu le déséquilibre).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Encodage catégoriel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TargetEncoder : chaque modalité remplacée par son taux d'engagement moyen. Évite l'explosion dimensionnelle du one-hot.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à l'échelle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sur les variables numériques pour les ramener à une échelle comparable.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du déséquilibre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3832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appliqué UNIQUEMENT sur le train (via Pipeline imblearn) : génère des exemples synthétiques sans fuite de données.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47120" cy="12344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6817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Sélection de variables anti-fuite (data leakage)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5074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Exclusion du bloc 3* (ESB committed/operating/delivered…) qui décrit l'engagement déjà réalisé = la cible déguisée.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par 3 variables à fort signal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4c. Nb d'écoles (r=+0.24), 5b. % non-white/Hispanic (r=+0.18), 5o. EPA 2022 prioritized (subvention fédérale).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4a.  Choix du modèle — comparaison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algorithmes comparés sur le même pipeline (prétraitement + SMOTE), validation croisée 5 plis, métrique F1 (classe positive)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4592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645920"/>
            <a:ext cx="53035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645920"/>
            <a:ext cx="5303520" cy="5486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comparer plusieurs modèles 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75120" y="23774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bagging d'arbres, robuste, fournit l'importance des variables (interprétable).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boosting séquentiel, souvent plus précis.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boosting optimisé, référence sur données tabulaires.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4160520"/>
            <a:ext cx="4754880" cy="1280160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4279392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identique pour les 3 modèles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pipeline (prétraitement + SMOTE), même validation croisée 5 plis, même métrique F1 — pour garantir la comparabilité des résultats.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4b.  Réglage fin (GridSearchCV)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règle finement les DEUX meilleurs (RF &amp; GB) par GridSearchCV — puis on retient le plus performant après optimisation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85216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37160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par défaut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après réglage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 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1ᵉʳ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5852160" cy="20574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Effet du réglage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42976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défaut, Gradient Boosting devançait Random Forest (0,354 vs 0,339).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GridSearchCV, Random Forest passe en tête à 0,370.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classement des modèles dépend donc du réglage d'hyperparamètres : une comparaison par défaut ne suffit pas.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1691640"/>
            <a:ext cx="5303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Hyperparamètres testés (RF)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2240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: 100 / 200 / 300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: 8 / 12 / 16 / None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 : 1 / 5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24 combinaisons × 5 plis = 120 entraînements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3703320"/>
            <a:ext cx="5303520" cy="2057400"/>
          </a:xfrm>
          <a:prstGeom prst="rect">
            <a:avLst/>
          </a:prstGeom>
          <a:solidFill>
            <a:srgbClr val="E3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optimiser le F1 et non l'accuracy 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0" y="420624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Avec ≈ 8 % de positifs, l'accuracy est trompeuse : un modèle constant « non engagé » atteindrait ≈ 92 % d'accuracy sans aucune utilité. Le </a:t>
            </a:r>
            <a:pPr indent="0" marL="0">
              <a:buNone/>
            </a:pPr>
            <a:r>
              <a:rPr lang="en-US" sz="125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équilibre précision et rappel</a:t>
            </a:r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sur la classe qui nous intéresse : les districts engagés. 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est ré-appliqué dans chaque pli de validation croisée → aucune fuite de données vers le test.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4c.  Résultats du modèle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00" cy="9144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capacité de discrimination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2344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123444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1371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61688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(classe engagé)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61688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0.43 · recall 0.37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66176" y="12344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23444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371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266176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globale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6176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3 904 districts de test</a:t>
            </a:r>
            <a:endParaRPr lang="en-US" sz="10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971800"/>
          <a:ext cx="59436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583680" y="2971800"/>
            <a:ext cx="5120640" cy="26517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1228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Interprétation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12280" y="3520440"/>
            <a:ext cx="4709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taille du district (nombre d'écoles, d'élèves, de bus) domine l'importance des variables : plus un district est grand, plus il a de moyens pour s'engager.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facteurs hors dataset (volonté politique locale, budgets d'État, programmes spécifiques) ne sont pas pris en compte et limitent le pouvoir prédictif du modèle.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1 : Classification des districts ESB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pistes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validée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variables justifiée et anti-fuite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robuste (split stratifié, SMOTE sans fuite)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3 modèles puis réglage des 2 finalistes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Random Forest (F1 CV 0.370, AUC 0.81)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Pistes d'amélioration (TRL / B206)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le seuil de décision selon le coût métier d'un faux négatif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avec d'autres variables (programmes d'État)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 ré-équilibrage par pondération de classe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10698480" cy="1005840"/>
          </a:xfrm>
          <a:prstGeom prst="rect">
            <a:avLst/>
          </a:prstGeom>
          <a:solidFill>
            <a:srgbClr val="24496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1206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final : Random Forest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= 0,81   ·   F1 (classe engagé) = 0,40   ·   accuracy = 0,91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Bar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itle"/>
          <p:cNvSpPr/>
          <p:nvPr/>
        </p:nvSpPr>
        <p:spPr>
          <a:xfrm>
            <a:off x="68580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3000" b="1" dirty="0">
                <a:solidFill>
                  <a:srgbClr val="1B3A5B"/>
                </a:solidFill>
                <a:latin typeface="Georgia" pitchFamily="34" charset="0"/>
              </a:rPr>
              <a:t>Introduction — Contexte du projet</a:t>
            </a:r>
            <a:endParaRPr lang="fr-FR" sz="1400" dirty="0"/>
          </a:p>
        </p:txBody>
      </p:sp>
      <p:sp>
        <p:nvSpPr>
          <p:cNvPr id="20" name="Card20"/>
          <p:cNvSpPr/>
          <p:nvPr/>
        </p:nvSpPr>
        <p:spPr>
          <a:xfrm>
            <a:off x="45720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Band0"/>
          <p:cNvSpPr/>
          <p:nvPr/>
        </p:nvSpPr>
        <p:spPr>
          <a:xfrm>
            <a:off x="457200" y="1188720"/>
            <a:ext cx="3291840" cy="6400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22" name="Val0"/>
          <p:cNvSpPr/>
          <p:nvPr/>
        </p:nvSpPr>
        <p:spPr>
          <a:xfrm>
            <a:off x="45720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1C9A8E"/>
                </a:solidFill>
                <a:latin typeface="Georgia" pitchFamily="34" charset="0"/>
              </a:rPr>
              <a:t>26 M</a:t>
            </a:r>
            <a:endParaRPr lang="fr-FR" sz="1400" dirty="0"/>
          </a:p>
        </p:txBody>
      </p:sp>
      <p:sp>
        <p:nvSpPr>
          <p:cNvPr id="23" name="Lbl0"/>
          <p:cNvSpPr/>
          <p:nvPr/>
        </p:nvSpPr>
        <p:spPr>
          <a:xfrm>
            <a:off x="45720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élèves américains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prennent le bus scolaire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chaque matin</a:t>
            </a:r>
            <a:endParaRPr lang="fr-FR" sz="1400" dirty="0"/>
          </a:p>
        </p:txBody>
      </p:sp>
      <p:sp>
        <p:nvSpPr>
          <p:cNvPr id="24" name="Card24"/>
          <p:cNvSpPr/>
          <p:nvPr/>
        </p:nvSpPr>
        <p:spPr>
          <a:xfrm>
            <a:off x="406908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Band1"/>
          <p:cNvSpPr/>
          <p:nvPr/>
        </p:nvSpPr>
        <p:spPr>
          <a:xfrm>
            <a:off x="4069080" y="1188720"/>
            <a:ext cx="3291840" cy="6400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6" name="Val1"/>
          <p:cNvSpPr/>
          <p:nvPr/>
        </p:nvSpPr>
        <p:spPr>
          <a:xfrm>
            <a:off x="406908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2E6E9E"/>
                </a:solidFill>
                <a:latin typeface="Georgia" pitchFamily="34" charset="0"/>
              </a:rPr>
              <a:t>480 000</a:t>
            </a:r>
            <a:endParaRPr lang="fr-FR" sz="1400" dirty="0"/>
          </a:p>
        </p:txBody>
      </p:sp>
      <p:sp>
        <p:nvSpPr>
          <p:cNvPr id="27" name="Lbl1"/>
          <p:cNvSpPr/>
          <p:nvPr/>
        </p:nvSpPr>
        <p:spPr>
          <a:xfrm>
            <a:off x="406908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bus scolaires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en circulation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(majoritairement diesel)</a:t>
            </a:r>
            <a:endParaRPr lang="fr-FR" sz="1400" dirty="0"/>
          </a:p>
        </p:txBody>
      </p:sp>
      <p:sp>
        <p:nvSpPr>
          <p:cNvPr id="28" name="Card28"/>
          <p:cNvSpPr/>
          <p:nvPr/>
        </p:nvSpPr>
        <p:spPr>
          <a:xfrm>
            <a:off x="768096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Band2"/>
          <p:cNvSpPr/>
          <p:nvPr/>
        </p:nvSpPr>
        <p:spPr>
          <a:xfrm>
            <a:off x="7680960" y="1188720"/>
            <a:ext cx="3291840" cy="64008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0" name="Val2"/>
          <p:cNvSpPr/>
          <p:nvPr/>
        </p:nvSpPr>
        <p:spPr>
          <a:xfrm>
            <a:off x="768096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1B3A5B"/>
                </a:solidFill>
                <a:latin typeface="Georgia" pitchFamily="34" charset="0"/>
              </a:rPr>
              <a:t>19 516</a:t>
            </a:r>
            <a:endParaRPr lang="fr-FR" sz="1400" dirty="0"/>
          </a:p>
        </p:txBody>
      </p:sp>
      <p:sp>
        <p:nvSpPr>
          <p:cNvPr id="31" name="Lbl2"/>
          <p:cNvSpPr/>
          <p:nvPr/>
        </p:nvSpPr>
        <p:spPr>
          <a:xfrm>
            <a:off x="768096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districts scolaires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recensés dans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le dataset WRI</a:t>
            </a:r>
            <a:endParaRPr lang="fr-FR" sz="1400" dirty="0"/>
          </a:p>
        </p:txBody>
      </p:sp>
      <p:sp>
        <p:nvSpPr>
          <p:cNvPr id="40" name="Card40"/>
          <p:cNvSpPr/>
          <p:nvPr/>
        </p:nvSpPr>
        <p:spPr>
          <a:xfrm>
            <a:off x="457200" y="2788920"/>
            <a:ext cx="64008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NBar"/>
          <p:cNvSpPr/>
          <p:nvPr/>
        </p:nvSpPr>
        <p:spPr>
          <a:xfrm>
            <a:off x="457200" y="2788920"/>
            <a:ext cx="109728" cy="23317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42" name="Narr"/>
          <p:cNvSpPr/>
          <p:nvPr/>
        </p:nvSpPr>
        <p:spPr>
          <a:xfrm>
            <a:off x="713232" y="2880360"/>
            <a:ext cx="603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Ces bus circulent souvent dans les quartiers les plus exposés à la pollution — </a:t>
            </a:r>
            <a:r>
              <a:rPr lang="fr-FR" sz="1300" b="1" dirty="0">
                <a:solidFill>
                  <a:srgbClr val="1B3A5B"/>
                </a:solidFill>
                <a:latin typeface="Calibri" pitchFamily="34" charset="0"/>
              </a:rPr>
              <a:t>une question d'équité autant que de santé publique.</a:t>
            </a:r>
            <a:endParaRPr lang="fr-FR" sz="1400" dirty="0"/>
          </a:p>
          <a:p>
            <a:pPr algn="l" indent="0" marL="0">
              <a:buNone/>
            </a:pPr>
            <a:r>
              <a:rPr lang="fr-FR" sz="8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>Depuis quelques années, des programmes fédéraux et des subventions accélèrent la transition électrique. Mais sur 19 516 districts, la grande majorité n'a pas encore franchi le pas.</a:t>
            </a:r>
            <a:endParaRPr lang="fr-FR" sz="1400" dirty="0"/>
          </a:p>
          <a:p>
            <a:pPr algn="l" indent="0" marL="0">
              <a:buNone/>
            </a:pPr>
            <a:r>
              <a:rPr lang="fr-FR" sz="8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Notre projet : utiliser le </a:t>
            </a:r>
            <a:r>
              <a:rPr lang="fr-FR" sz="1300" b="1" dirty="0">
                <a:solidFill>
                  <a:srgbClr val="1C9A8E"/>
                </a:solidFill>
                <a:latin typeface="Calibri" pitchFamily="34" charset="0"/>
              </a:rPr>
              <a:t>machine learning</a:t>
            </a: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 pour comprendre, anticiper et accélérer cette transition.</a:t>
            </a:r>
            <a:endParaRPr lang="fr-FR" sz="1400" dirty="0"/>
          </a:p>
        </p:txBody>
      </p:sp>
      <p:sp>
        <p:nvSpPr>
          <p:cNvPr id="43" name="Card43"/>
          <p:cNvSpPr/>
          <p:nvPr/>
        </p:nvSpPr>
        <p:spPr>
          <a:xfrm>
            <a:off x="7132320" y="2788920"/>
            <a:ext cx="42976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rc"/>
          <p:cNvSpPr/>
          <p:nvPr/>
        </p:nvSpPr>
        <p:spPr>
          <a:xfrm>
            <a:off x="7360920" y="288036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5B"/>
                </a:solidFill>
                <a:latin typeface="Georgia" pitchFamily="34" charset="0"/>
              </a:rPr>
              <a:t>Source de données</a:t>
            </a:r>
            <a:endParaRPr lang="fr-FR" sz="1400" dirty="0"/>
          </a:p>
          <a:p>
            <a:pPr algn="l" indent="0" marL="0">
              <a:buNone/>
            </a:pPr>
            <a:r>
              <a:rPr lang="fr-FR" sz="6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150" i="1" dirty="0">
                <a:solidFill>
                  <a:srgbClr val="1C9A8E"/>
                </a:solidFill>
                <a:latin typeface="Calibri" pitchFamily="34" charset="0"/>
              </a:rPr>
              <a:t>Dataset of U.S. Electric School Bus Adoption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5B6B7A"/>
                </a:solidFill>
                <a:latin typeface="Calibri" pitchFamily="34" charset="0"/>
              </a:rPr>
              <a:t>World Resources Institute / ESB Initiative</a:t>
            </a:r>
            <a:endParaRPr lang="fr-FR" sz="1400" dirty="0"/>
          </a:p>
          <a:p>
            <a:pPr algn="l" indent="0" marL="0">
              <a:buNone/>
            </a:pPr>
            <a:r>
              <a:rPr lang="fr-FR" sz="6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Feuille « District-level data »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Chaque ligne = un district scolaire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91 colonnes — socio-économiques,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environnementales, géographiques</a:t>
            </a:r>
            <a:endParaRPr lang="fr-FR" sz="1400" dirty="0"/>
          </a:p>
        </p:txBody>
      </p:sp>
      <p:sp>
        <p:nvSpPr>
          <p:cNvPr id="50" name="FooterBar"/>
          <p:cNvSpPr/>
          <p:nvPr/>
        </p:nvSpPr>
        <p:spPr>
          <a:xfrm>
            <a:off x="0" y="5934456"/>
            <a:ext cx="1219200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51" name="FooterL"/>
          <p:cNvSpPr/>
          <p:nvPr/>
        </p:nvSpPr>
        <p:spPr>
          <a:xfrm>
            <a:off x="457200" y="59344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Machine Learning II (ADIF84) — Lab 1 : Classification des districts ESB</a:t>
            </a:r>
            <a:endParaRPr lang="fr-FR" sz="1400" dirty="0"/>
          </a:p>
        </p:txBody>
      </p:sp>
      <p:sp>
        <p:nvSpPr>
          <p:cNvPr id="52" name="FooterR"/>
          <p:cNvSpPr/>
          <p:nvPr/>
        </p:nvSpPr>
        <p:spPr>
          <a:xfrm>
            <a:off x="10972800" y="5934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—</a:t>
            </a:r>
            <a:endParaRPr lang="fr-FR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Bar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itle"/>
          <p:cNvSpPr/>
          <p:nvPr/>
        </p:nvSpPr>
        <p:spPr>
          <a:xfrm>
            <a:off x="68580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3000" b="1" dirty="0">
                <a:solidFill>
                  <a:srgbClr val="1B3A5B"/>
                </a:solidFill>
                <a:latin typeface="Georgia" pitchFamily="34" charset="0"/>
              </a:rPr>
              <a:t>1.  Compréhension du problème métier</a:t>
            </a:r>
            <a:endParaRPr lang="fr-FR" sz="1400" dirty="0"/>
          </a:p>
        </p:txBody>
      </p:sp>
      <p:sp>
        <p:nvSpPr>
          <p:cNvPr id="4" name="Sub"/>
          <p:cNvSpPr/>
          <p:nvPr/>
        </p:nvSpPr>
        <p:spPr>
          <a:xfrm>
            <a:off x="68580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100" i="1" dirty="0">
                <a:solidFill>
                  <a:srgbClr val="5B6B7A"/>
                </a:solidFill>
                <a:latin typeface="Calibri" pitchFamily="34" charset="0"/>
              </a:rPr>
              <a:t>Ce TP — Classification supervisée par forêts aléatoires</a:t>
            </a:r>
            <a:endParaRPr lang="fr-FR" sz="1400" dirty="0"/>
          </a:p>
        </p:txBody>
      </p:sp>
      <p:sp>
        <p:nvSpPr>
          <p:cNvPr id="10" name="QBox"/>
          <p:cNvSpPr/>
          <p:nvPr/>
        </p:nvSpPr>
        <p:spPr>
          <a:xfrm>
            <a:off x="457200" y="1417320"/>
            <a:ext cx="10698480" cy="7772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QTxt"/>
          <p:cNvSpPr/>
          <p:nvPr/>
        </p:nvSpPr>
        <p:spPr>
          <a:xfrm>
            <a:off x="685800" y="1417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500" b="1" i="1" dirty="0">
                <a:solidFill>
                  <a:srgbClr val="FFFFFF"/>
                </a:solidFill>
                <a:latin typeface="Calibri" pitchFamily="34" charset="0"/>
              </a:rPr>
              <a:t>« Ce district va-t-il s'engager dans l'électrification de sa flotte de bus scolaires ? »</a:t>
            </a:r>
            <a:endParaRPr lang="fr-FR" sz="1400" dirty="0"/>
          </a:p>
        </p:txBody>
      </p:sp>
      <p:sp>
        <p:nvSpPr>
          <p:cNvPr id="20" name="Card20"/>
          <p:cNvSpPr/>
          <p:nvPr/>
        </p:nvSpPr>
        <p:spPr>
          <a:xfrm>
            <a:off x="45720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CBar0"/>
          <p:cNvSpPr/>
          <p:nvPr/>
        </p:nvSpPr>
        <p:spPr>
          <a:xfrm>
            <a:off x="457200" y="2377440"/>
            <a:ext cx="109728" cy="237744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22" name="CTitle0"/>
          <p:cNvSpPr/>
          <p:nvPr/>
        </p:nvSpPr>
        <p:spPr>
          <a:xfrm>
            <a:off x="65836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Objectif business</a:t>
            </a:r>
            <a:endParaRPr lang="fr-FR" sz="1400" dirty="0"/>
          </a:p>
        </p:txBody>
      </p:sp>
      <p:sp>
        <p:nvSpPr>
          <p:cNvPr id="23" name="CBody0"/>
          <p:cNvSpPr/>
          <p:nvPr/>
        </p:nvSpPr>
        <p:spPr>
          <a:xfrm>
            <a:off x="65836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Identifier les districts à fort potentiel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d'engagement ESB, à partir de leurs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caractéristiques socio-économiques,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environnementales et institutionnelles.</a:t>
            </a:r>
            <a:endParaRPr lang="fr-FR" sz="1400" dirty="0"/>
          </a:p>
        </p:txBody>
      </p:sp>
      <p:sp>
        <p:nvSpPr>
          <p:cNvPr id="25" name="Card25"/>
          <p:cNvSpPr/>
          <p:nvPr/>
        </p:nvSpPr>
        <p:spPr>
          <a:xfrm>
            <a:off x="406908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CBar1"/>
          <p:cNvSpPr/>
          <p:nvPr/>
        </p:nvSpPr>
        <p:spPr>
          <a:xfrm>
            <a:off x="4069080" y="2377440"/>
            <a:ext cx="109728" cy="2377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7" name="CTitle1"/>
          <p:cNvSpPr/>
          <p:nvPr/>
        </p:nvSpPr>
        <p:spPr>
          <a:xfrm>
            <a:off x="427024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Type de tâche</a:t>
            </a:r>
            <a:endParaRPr lang="fr-FR" sz="1400" dirty="0"/>
          </a:p>
        </p:txBody>
      </p:sp>
      <p:sp>
        <p:nvSpPr>
          <p:cNvPr id="28" name="CBody1"/>
          <p:cNvSpPr/>
          <p:nvPr/>
        </p:nvSpPr>
        <p:spPr>
          <a:xfrm>
            <a:off x="427024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Classification binaire supervisée.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Variable cible : 1 = engagé / 0 = non engagé.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Modèle retenu : Forêt Aléatoire.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Deux défis : déséquilibre + data leakage.</a:t>
            </a:r>
            <a:endParaRPr lang="fr-FR" sz="1400" dirty="0"/>
          </a:p>
        </p:txBody>
      </p:sp>
      <p:sp>
        <p:nvSpPr>
          <p:cNvPr id="30" name="Card30"/>
          <p:cNvSpPr/>
          <p:nvPr/>
        </p:nvSpPr>
        <p:spPr>
          <a:xfrm>
            <a:off x="768096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CBar2"/>
          <p:cNvSpPr/>
          <p:nvPr/>
        </p:nvSpPr>
        <p:spPr>
          <a:xfrm>
            <a:off x="7680960" y="2377440"/>
            <a:ext cx="109728" cy="23774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2" name="CTitle2"/>
          <p:cNvSpPr/>
          <p:nvPr/>
        </p:nvSpPr>
        <p:spPr>
          <a:xfrm>
            <a:off x="788212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Intérêt métier</a:t>
            </a:r>
            <a:endParaRPr lang="fr-FR" sz="1400" dirty="0"/>
          </a:p>
        </p:txBody>
      </p:sp>
      <p:sp>
        <p:nvSpPr>
          <p:cNvPr id="33" name="CBody2"/>
          <p:cNvSpPr/>
          <p:nvPr/>
        </p:nvSpPr>
        <p:spPr>
          <a:xfrm>
            <a:off x="788212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Un commercial peut prioriser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les districts à fort potentiel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pour cibler sa démarche :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subventions, offres, accompagnement.</a:t>
            </a:r>
            <a:endParaRPr lang="fr-FR" sz="1400" dirty="0"/>
          </a:p>
        </p:txBody>
      </p:sp>
      <p:sp>
        <p:nvSpPr>
          <p:cNvPr id="50" name="RCard50"/>
          <p:cNvSpPr/>
          <p:nvPr/>
        </p:nvSpPr>
        <p:spPr>
          <a:xfrm>
            <a:off x="457200" y="4892040"/>
            <a:ext cx="10698480" cy="59436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51" name="Note"/>
          <p:cNvSpPr/>
          <p:nvPr/>
        </p:nvSpPr>
        <p:spPr>
          <a:xfrm>
            <a:off x="640080" y="48920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5B"/>
                </a:solidFill>
                <a:latin typeface="Calibri" pitchFamily="34" charset="0"/>
              </a:rPr>
              <a:t xml:space="preserve">Données : </a:t>
            </a:r>
            <a:r>
              <a:rPr lang="fr-FR" sz="1200" dirty="0">
                <a:solidFill>
                  <a:srgbClr val="1E2A36"/>
                </a:solidFill>
                <a:latin typeface="Calibri" pitchFamily="34" charset="0"/>
              </a:rPr>
              <a:t>19 516 districts scolaires — source WRI. Seulement 7,8 % de districts engagés → jeu fortement déséquilibré.</a:t>
            </a:r>
            <a:endParaRPr lang="fr-FR" sz="1400" dirty="0"/>
          </a:p>
        </p:txBody>
      </p:sp>
      <p:sp>
        <p:nvSpPr>
          <p:cNvPr id="55" name="FooterBar"/>
          <p:cNvSpPr/>
          <p:nvPr/>
        </p:nvSpPr>
        <p:spPr>
          <a:xfrm>
            <a:off x="0" y="5934456"/>
            <a:ext cx="1219200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56" name="FooterL"/>
          <p:cNvSpPr/>
          <p:nvPr/>
        </p:nvSpPr>
        <p:spPr>
          <a:xfrm>
            <a:off x="457200" y="59344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Machine Learning II (ADIF84) — Lab 1 : Classification des districts ESB</a:t>
            </a:r>
            <a:endParaRPr lang="fr-FR" sz="1400" dirty="0"/>
          </a:p>
        </p:txBody>
      </p:sp>
      <p:sp>
        <p:nvSpPr>
          <p:cNvPr id="57" name="FooterR"/>
          <p:cNvSpPr/>
          <p:nvPr/>
        </p:nvSpPr>
        <p:spPr>
          <a:xfrm>
            <a:off x="10972800" y="5934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—</a:t>
            </a:r>
            <a:endParaRPr lang="fr-F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— Classification ESB</dc:title>
  <dc:subject>PptxGenJS Presentation</dc:subject>
  <dc:creator>Equipe ML II</dc:creator>
  <cp:lastModifiedBy>Equipe ML II</cp:lastModifiedBy>
  <cp:revision>1</cp:revision>
  <dcterms:created xsi:type="dcterms:W3CDTF">2026-05-27T13:40:10Z</dcterms:created>
  <dcterms:modified xsi:type="dcterms:W3CDTF">2026-05-27T13:40:10Z</dcterms:modified>
</cp:coreProperties>
</file>