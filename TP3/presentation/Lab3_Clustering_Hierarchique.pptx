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0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spc="200" kern="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— ADIF84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3 — Clustering hiérarchique des districts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914400" y="28346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Segmenter les districts engagés par classification hiérarchique — et valider la structure par confrontation à un autre algorithme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Problème métier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52044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06908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Compréhension des données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3" name="Text 11"/>
          <p:cNvSpPr/>
          <p:nvPr/>
        </p:nvSpPr>
        <p:spPr>
          <a:xfrm>
            <a:off x="612648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732520" y="438912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24496E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4389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281160" y="4389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&amp; réglage du modèle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852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imposé par le sujet : clustering hiérarchique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 Compréhension du problème métier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68580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109728" cy="36576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Objectif business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6400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des </a:t>
            </a:r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groupes (segments) de districts scolaires</a:t>
            </a:r>
            <a:pPr indent="0" marL="0">
              <a:buNone/>
            </a:pPr>
            <a:r>
              <a:rPr lang="en-US" sz="14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parmi ceux déjà engagés dans les bus électriques, afin de mieux cibler une démarche commerciale / publicitaire.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Décideur visé : </a:t>
            </a:r>
            <a:pPr indent="0" marL="0">
              <a:buNone/>
            </a:pPr>
            <a:r>
              <a:rPr lang="en-US" sz="14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de vente de bus électriques.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188720"/>
            <a:ext cx="4114800" cy="36576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0" y="1325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17373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Existe-t-il des profils-types de districts engagés, vers lesquels adapter un discours commercial distinct ? »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0" y="3383280"/>
            <a:ext cx="3703320" cy="1828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0" y="3520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Type de tâche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0" y="3931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— non supervisé, descriptif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(apprentissage non supervisé, descriptif).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502920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3EEF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0292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imposé par le sujet :  </a:t>
            </a:r>
            <a:pPr indent="0" marL="0">
              <a:buNone/>
            </a:pPr>
            <a:r>
              <a:rPr lang="en-US" sz="13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hiérarchique. L'algorithme et son fonctionnement seront détaillés dans la partie « Choix et réglage du modèle ».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 Compréhension des données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657600" cy="914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1 524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engagés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(committed = yes)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61688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61688" y="1188720"/>
            <a:ext cx="3657600" cy="91440"/>
          </a:xfrm>
          <a:prstGeom prst="rect">
            <a:avLst/>
          </a:prstGeom>
          <a:solidFill>
            <a:srgbClr val="147A70"/>
          </a:solidFill>
          <a:ln/>
        </p:spPr>
      </p:sp>
      <p:sp>
        <p:nvSpPr>
          <p:cNvPr id="10" name="Text 8"/>
          <p:cNvSpPr/>
          <p:nvPr/>
        </p:nvSpPr>
        <p:spPr>
          <a:xfrm>
            <a:off x="4361688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7A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361688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socio-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économiques retenues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66176" y="118872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66176" y="1188720"/>
            <a:ext cx="3657600" cy="914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14" name="Text 12"/>
          <p:cNvSpPr/>
          <p:nvPr/>
        </p:nvSpPr>
        <p:spPr>
          <a:xfrm>
            <a:off x="8266176" y="1325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88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jusqu'à 33 %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266176" y="20116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valeurs manquantes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certaines variables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12471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926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Variables retenues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flotte électrique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(niveau d'électrification déjà atteint)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élèves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(taille du district)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repas gratuits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(précarité scolaire)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pauvreté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(pauvreté de la population)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11247120" cy="14173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45262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Détection de valeurs aberrantes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8920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variable « % flotte électrique » contient des valeurs supérieures à 100 %, jusqu'à 2300 %.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sont des erreurs de saisie (22 districts concernés) : un pourcentage ne peut physiquement pas dépasser 100 %. Ces valeurs seront corrigées lors de la préparation, car les algorithmes de clustering basés sur les distances sont très sensibles aux valeurs extrêmes.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 Préparation des données d'entraînement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Filtrage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783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garde que les districts déjà engagés (committed = yes) → 1524 lignes pour l'analyse.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309360" y="12344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5087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508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23760" y="13990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 des aberrants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223760" y="17830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flotte électrique plafonné à 100 % (clip à 1.0). 22 valeurs corrigées. Évite qu'un district aberrant accapare un cluster.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Imputation des manquants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33832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manquantes (jusqu'à 33 % sur certaines variables) remplacées par la médiane, robuste aux valeurs extrêmes.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834640"/>
            <a:ext cx="55778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37960" y="3108960"/>
            <a:ext cx="502920" cy="502920"/>
          </a:xfrm>
          <a:prstGeom prst="ellipse">
            <a:avLst/>
          </a:prstGeom>
          <a:solidFill>
            <a:srgbClr val="1B3A5B"/>
          </a:solidFill>
          <a:ln/>
        </p:spPr>
      </p:sp>
      <p:sp>
        <p:nvSpPr>
          <p:cNvPr id="21" name="Text 19"/>
          <p:cNvSpPr/>
          <p:nvPr/>
        </p:nvSpPr>
        <p:spPr>
          <a:xfrm>
            <a:off x="6537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23760" y="2999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Standardisation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223760" y="338328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appliqué aux 4 variables : moyenne 0, écart-type 1. Indispensable car les distances sont sensibles aux échelles (Nb élèves en milliers vs % en 0-1).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11247120" cy="1234440"/>
          </a:xfrm>
          <a:prstGeom prst="roundRect">
            <a:avLst>
              <a:gd name="adj" fmla="val 4444"/>
            </a:avLst>
          </a:prstGeom>
          <a:solidFill>
            <a:srgbClr val="E3EEF5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68172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Livrable de cette étape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31520" y="507492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de données préparé est exporté en </a:t>
            </a:r>
            <a:pPr indent="0" marL="0">
              <a:buNone/>
            </a:pPr>
            <a:r>
              <a:rPr lang="en-US" sz="1250" b="1" dirty="0">
                <a:solidFill>
                  <a:srgbClr val="1E2A3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clustering.csv</a:t>
            </a:r>
            <a:pPr indent="0" marL="0"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(1524 districts × 4 variables, sans NA, standardisé) — c'est le « fichier des données d'entraînement » demandé par le sujet.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4a.  L'algorithme : clustering hiérarchique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48640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Approche agglomérative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Chaque district démarre comme son propre cluster (1524 clusters au départ).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À chaque étape, on fusionne les deux clusters les plus proches.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On répète jusqu'à n'avoir qu'un seul cluster contenant tout.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3749040"/>
            <a:ext cx="484632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840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Sortie : le dendrogramme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arbre qui enregistre l'ordre des fusions. La </a:t>
            </a:r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hauteur d'une fusion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la distance entre les deux groupes (plus c'est haut, plus ils étaient différents).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5486400" cy="45720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46520" y="1325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cet algorithme 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46520" y="1783080"/>
            <a:ext cx="50749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besoin de fixer le nombre de clusters à l'avance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construit l'arbre complet, puis on coupe à la hauteur qui révèle le bon nombre de groupes (méthode visuelle).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déterministe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d'initialisation aléatoire (contrairement à K-means) : le résultat est reproductible.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Paramètre clé à régler : le linkage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mesurer la « distance » entre deux clusters ? 4 stratégies possibles (single, complete, average, Ward) — on compare leurs résultats à la slide suivante.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4b.  Le dendrogramme — choix du nombre de clusters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Dendrogramme calculé avec le linkage de Ward (le linkage est détaillé à la slide suivante).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760720" cy="434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 lire le dendrogramme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5212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hauteur d'une fusion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représente la distance entre les deux clusters qui fusionnent. Plus c'est haut, plus ces clusters étaient différents.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obtenir K clusters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on « coupe » l'arbre par une ligne horizontale. Le nombre de branches traversées = le nombre de groupes.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4297680"/>
            <a:ext cx="5257800" cy="137160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Choisir K en pratique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7548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coupe l'arbre là où il y a le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grand saut vertical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deux fusions consécutives. Sur nos données : saut net de 26 à 43 (cf. dendrogramme).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1417320"/>
            <a:ext cx="5303520" cy="4343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C:\Users\Ilyann\Desktop\Efrei\machine_learning2\Machine-learning-2\TP3\presentation\_build\assets\dendro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600200"/>
            <a:ext cx="5120640" cy="219456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92240" y="3886200"/>
            <a:ext cx="5120640" cy="4572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4" name="Text 11"/>
          <p:cNvSpPr/>
          <p:nvPr/>
        </p:nvSpPr>
        <p:spPr>
          <a:xfrm>
            <a:off x="6583680" y="40233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 du dendrogramme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83680" y="438912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pPr indent="0" marL="0">
              <a:buNone/>
            </a:pPr>
            <a:r>
              <a:rPr lang="en-US" sz="11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ligne rouge pointillée à h ≈ 35</a:t>
            </a:r>
            <a:pPr indent="0" marL="0">
              <a:buNone/>
            </a:pPr>
            <a:r>
              <a:rPr lang="en-US" sz="11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traverse 4 branches verticales : </a:t>
            </a:r>
            <a:pPr indent="0" marL="0">
              <a:buNone/>
            </a:pPr>
            <a:r>
              <a:rPr lang="en-US" sz="11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clusters retenus.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hauteur 35 est choisie dans le grand vide entre 26 et 43 — n'importe quelle valeur dans ce trou donne le même découpage.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4c.  Les 4 linkages : qu'est-ce que c'est 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linkage » définit comment mesurer la distance entre deux clusters (un cluster contient plusieurs points). Quatre stratégies du cours.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5778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109728" cy="20574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(MIN)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24028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des deux points les plus PROCHES entre les deux clusters.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 : </a:t>
            </a:r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au bruit, effet de chaînage.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09360" y="1645920"/>
            <a:ext cx="55778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645920"/>
            <a:ext cx="109728" cy="20574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78308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(MAX)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des deux points les plus ÉLOIGNÉS entre les deux clusters.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 : </a:t>
            </a:r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 à fragmenter les gros clusters.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886200"/>
            <a:ext cx="5577840" cy="2057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886200"/>
            <a:ext cx="109728" cy="205740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48056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: </a:t>
            </a:r>
            <a:pPr indent="0" marL="0">
              <a:buNone/>
            </a:pPr>
            <a:r>
              <a:rPr lang="en-US" sz="12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 de toutes les distances point-à-point entre les deux clusters.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 : </a:t>
            </a:r>
            <a:pPr indent="0" marL="0">
              <a:buNone/>
            </a:pPr>
            <a:r>
              <a:rPr lang="en-US" sz="12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 entre single et complete.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3886200"/>
            <a:ext cx="5577840" cy="20574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3886200"/>
            <a:ext cx="109728" cy="20574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02336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Ward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0" y="4480560"/>
            <a:ext cx="5212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l'augmentation de variance après la fusion (analogue hiérarchique de K-means).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Caractéristique : </a:t>
            </a:r>
            <a:pPr indent="0" marL="0">
              <a:buNone/>
            </a:pPr>
            <a:r>
              <a:rPr lang="en-US" sz="12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Clusters compacts et équilibrés.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4d.  Comparaison des linkages sur nos données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applique les 4 linkages au même jeu de données (K = 4) et on compare les résultats — silhouette, tailles des clusters, verdict.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45920"/>
                <a:gridCol w="384048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Tailles des 4 clusters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(MIN)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1519 / 3 / 1 /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dégénéré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average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1511 / 8 / 4 /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887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dégénéré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(MAX)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972 / 539 / 9 /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B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déséquilibré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711 / 697 / 96 / 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C9A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 équilibré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572000"/>
            <a:ext cx="11247120" cy="118872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46634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Effet de chaînage des linkages single et average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502920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et average ont la silhouette la plus haute (0,76 et 0,67) mais regroupent ~1500 districts dans un seul cluster — phénomène décrit dans le cours (ch.2).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produit 4 groupes équilibrés (711 / 697 / 96 / 20), exploitables pour la suite. La vérification des tailles est nécessaire en plus du score métrique.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4e.  K-means en bref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 de comparer notre clustering hiérarchique à K-means, deux mots sur ce second algorithme — partitionnel et très différent du nôtre.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48640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Principe : algorithme partitionnel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On fixe K à l'avance (ici K = 4) et on place K centres au hasard.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Chaque district est affecté au centre le plus proche.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Chaque centre se déplace au milieu des points qu'il a attirés.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On répète 2-3 jusqu'à ce que les centres ne bougent plus.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4480560"/>
            <a:ext cx="5074920" cy="27432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72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Sortie : une partition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983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district est affecté à exactement un cluster, sans hiérarchie ni arbre.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17920" y="1600200"/>
            <a:ext cx="5486400" cy="41148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Différences avec le hiérarchique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19456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783080"/>
                <a:gridCol w="1783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K-means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E9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Hiérarchique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9A8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fixé AVANT (paramètre)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choisi APRÈS (coupe de l'arbre)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Méthode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centres ajustés en boucle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fusions successives des plus proches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Reproductible 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 (dépend du tirage initial)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oui (déterministe)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7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très rapide, scalable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 : O(N²)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227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6446520" y="4983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algorithmes au fonctionnement opposé : c'est pour ça que leur accord (slide suivante) est significatif.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4f.  Validation croisée par K-means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vérifier la robustesse de la segmentation, on applique en parallèle K-means (algorithme partitionnel, différent du hiérarchique) sur les mêmes données, et on mesure l'accord entre les deux partitions.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840480" cy="388620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21945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0,705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 Rand Index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l'accord entre 2 partitions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hasard   ·   1 = identique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Fort accord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0" y="1691640"/>
            <a:ext cx="71323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828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Interprétation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00600" y="2286000"/>
            <a:ext cx="6720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algorithmes de clustering très différents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K-means (partitionnel, K centres ajustés) et hiérarchique agglomératif (fusions successives) — </a:t>
            </a:r>
            <a:pPr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retrouvent essentiellement la même structure en 4 groupes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les 1524 districts.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 segmentation est robuste</a:t>
            </a:r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ce n'est pas un artefact d'une méthode, mais une vraie structure des données.</a:t>
            </a:r>
            <a:endParaRPr lang="en-US" sz="1300" dirty="0"/>
          </a:p>
          <a:p>
            <a:pPr indent="0" marL="0">
              <a:buNone/>
            </a:pPr>
            <a:r>
              <a:rPr lang="en-US" sz="8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segments retrouvés : </a:t>
            </a:r>
            <a:pPr indent="0" marL="0">
              <a:buNone/>
            </a:pPr>
            <a:r>
              <a:rPr lang="en-US" sz="13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Pionniers (96), Aisés (711), Défavorisés (697), Très grands districts (20).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64592" cy="50292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4g.  Les 4 segments retenus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Caractérisation des 4 clusters obtenus avec Ward — taille, profil dominant et discours commercial associé.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577840" cy="2148840"/>
          </a:xfrm>
          <a:prstGeom prst="rect">
            <a:avLst/>
          </a:prstGeom>
          <a:solidFill>
            <a:srgbClr val="1B3A5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128016" cy="214884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Pionniers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29768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districts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FC0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flotte électrique  +2,97 σ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déjà très avancés dans l'électrification de leur flotte.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154680"/>
            <a:ext cx="5029200" cy="18288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227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C9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commerciale : </a:t>
            </a:r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de flotte, services premium.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600200"/>
            <a:ext cx="55778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600200"/>
            <a:ext cx="128016" cy="21488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737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Très grands districts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14984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districts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1488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 élèves  +7,01 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Méga-districts type New York, Los Angeles — très peu nombreux mais énormes.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0" y="3154680"/>
            <a:ext cx="5029200" cy="18288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3227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E6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commerciale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de volume, contrats sur mesure.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55778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931920"/>
            <a:ext cx="128016" cy="2148840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Défavorisés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429768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697 districts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pauvreté  +0,57 σ   ·   % repas gratuits  +0,77 σ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4892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à forte précarité socio-économique.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31520" y="5486400"/>
            <a:ext cx="5029200" cy="18288"/>
          </a:xfrm>
          <a:prstGeom prst="rect">
            <a:avLst/>
          </a:prstGeom>
          <a:solidFill>
            <a:srgbClr val="C8872E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5559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88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commerciale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avant des subventions fédérales (EPA).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931920"/>
            <a:ext cx="557784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931920"/>
            <a:ext cx="128016" cy="2148840"/>
          </a:xfrm>
          <a:prstGeom prst="rect">
            <a:avLst/>
          </a:prstGeom>
          <a:solidFill>
            <a:srgbClr val="5B6B7A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0690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Aisés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0149840" y="4114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711 districts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4480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6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pauvreté  −0,52 σ   ·   % repas gratuits  −0,75 σ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489204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Districts plutôt favorisés, peu de précarité.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583680" y="5486400"/>
            <a:ext cx="5029200" cy="18288"/>
          </a:xfrm>
          <a:prstGeom prst="rect">
            <a:avLst/>
          </a:prstGeom>
          <a:solidFill>
            <a:srgbClr val="5B6B7A"/>
          </a:solidFill>
          <a:ln/>
        </p:spPr>
      </p:sp>
      <p:sp>
        <p:nvSpPr>
          <p:cNvPr id="36" name="Text 34"/>
          <p:cNvSpPr/>
          <p:nvPr/>
        </p:nvSpPr>
        <p:spPr>
          <a:xfrm>
            <a:off x="6583680" y="555955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commerciale : </a:t>
            </a:r>
            <a:pPr indent="0" marL="0">
              <a:buNone/>
            </a:pPr>
            <a:r>
              <a:rPr lang="en-US" sz="1100" i="1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standard, démarche commerciale classique.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B3A5B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640080"/>
            <a:ext cx="164592" cy="640080"/>
          </a:xfrm>
          <a:prstGeom prst="rect">
            <a:avLst/>
          </a:prstGeom>
          <a:solidFill>
            <a:srgbClr val="1C9A8E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pistes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Démarche validée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Dendrogramme (Ward) pour visualiser la structure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4 linkages + détection du piège single/average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des tailles, pas seulement du score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 confirmés par validation croisée avec K-means (ARI = 0,705)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9A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Limites &amp; pistes (B206)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09360" y="210312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O(N²) : moins adapté aux très gros volumes que K-means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modérée (chevauchement partiel des groupes)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 : clustering basé densité (DBSCAN) pour des formes non sphériques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0698480" cy="1005840"/>
          </a:xfrm>
          <a:prstGeom prst="rect">
            <a:avLst/>
          </a:prstGeom>
          <a:solidFill>
            <a:srgbClr val="2E6E9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5120640"/>
            <a:ext cx="10149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 : Hiérarchique Ward, K = 4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EAF2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= 0,302   ·   ARI vs K-means = 0,705   ·   4 segments métier identifiés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227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6537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II (ADIF84) — Lab 3 : Clustering hiérarchique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338560" y="65379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FC0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3 — Clustering hiérarchique</dc:title>
  <dc:subject>PptxGenJS Presentation</dc:subject>
  <dc:creator>Equipe ML II</dc:creator>
  <cp:lastModifiedBy>Equipe ML II</cp:lastModifiedBy>
  <cp:revision>1</cp:revision>
  <dcterms:created xsi:type="dcterms:W3CDTF">2026-05-27T13:59:40Z</dcterms:created>
  <dcterms:modified xsi:type="dcterms:W3CDTF">2026-05-27T13:59:40Z</dcterms:modified>
</cp:coreProperties>
</file>