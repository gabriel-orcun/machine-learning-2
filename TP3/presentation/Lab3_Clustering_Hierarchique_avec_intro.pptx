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69" r:id="rId20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— ADIF84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3 — Clustering hiérarchique des districts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 les districts engagés par classification hiérarchique — et valider la structure par confrontation à un autre algorithme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réglage du modèle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imposé par le sujet : clustering hiérarchique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Compréhension du problème métier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8580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business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Identifier des </a:t>
            </a:r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(segments) de districts scolaires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parmi ceux déjà engagés dans les bus électriques, afin de mieux cibler une démarche commerciale / publicitaire.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Décideur visé : </a:t>
            </a:r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de vente de bus électriques.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188720"/>
            <a:ext cx="4114800" cy="36576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17373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Existe-t-il des profils-types de districts engagés, vers lesquels adapter un discours commercial distinct ? 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383280"/>
            <a:ext cx="3703320" cy="1828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tâche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non supervisé, descriptif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(apprentissage non supervisé, descriptif).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Modèle imposé par le sujet 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hiérarchique. L'algorithme et son fonctionnement seront détaillés dans la partie « Choix et réglage du modèle ».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Compréhension des données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1 524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engagés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(committed = yes)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18872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61688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socio-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économiques retenues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18872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jusqu'à 33 %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66176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valeurs manquantes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certaines variables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471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926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retenues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flotte électrique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(niveau d'électrification déjà atteint)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élèves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(taille du district)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repas gratuits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(précarité scolaire)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pauvreté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(pauvreté de la population)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14173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 valeurs aberrantes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8920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 variable « % flotte électrique » contient des valeurs supérieures à 100 %, jusqu'à 2300 %.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des erreurs de saisie (22 districts concernés) : un pourcentage ne peut physiquement pas dépasser 100 %. Ces valeurs seront corrigées lors de la préparation, car les algorithmes de clustering basés sur les distances sont très sensibles aux valeurs extrêmes.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Préparation des données d'entraînement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garde que les districts déjà engagés (committed = yes) → 1524 lignes pour l'analyse.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 des aberrants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flotte électrique plafonné à 100 % (clip à 1.0). 22 valeurs corrigées. Évite qu'un district aberrant accapare un cluster.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Imputation des manquants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 (jusqu'à 33 % sur certaines variables) remplacées par la médiane, robuste aux valeurs extrêmes.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appliqué aux 4 variables : moyenne 0, écart-type 1. Indispensable car les distances sont sensibles aux échelles (Nb élèves en milliers vs % en 0-1).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E3EEF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6817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Livrable de cette étape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0749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 jeu de données préparé est exporté en </a:t>
            </a:r>
            <a:pPr indent="0" marL="0">
              <a:buNone/>
            </a:pPr>
            <a:r>
              <a:rPr lang="en-US" sz="125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clustering.csv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(1524 districts × 4 variables, sans NA, standardisé) — c'est le « fichier des données d'entraînement » demandé par le sujet.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4a.  L'algorithme : clustering hiérarchique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Approche agglomérative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Chaque district démarre comme son propre cluster (1524 clusters au départ).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À chaque étape, on fusionne les deux clusters les plus proches.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On répète jusqu'à n'avoir qu'un seul cluster contenant tout.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749040"/>
            <a:ext cx="484632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Sortie : le dendrogramme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Un arbre qui enregistre l'ordre des fusions. La </a:t>
            </a:r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 d'une fusion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la distance entre les deux groupes (plus c'est haut, plus ils étaient différents).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486400" cy="45720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cet algorithme 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78308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fixer le nombre de clusters à l'avance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construit l'arbre complet, puis on coupe à la hauteur qui révèle le bon nombre de groupes (méthode visuelle).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déterministe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d'initialisation aléatoire (contrairement à K-means) : le résultat est reproductible.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 clé à régler : le linkage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mesurer la « distance » entre deux clusters ? 4 stratégies possibles (single, complete, average, Ward) — on compare leurs résultats à la slide suivante.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4b.  Le dendrogramme — choix du nombre de clusters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Dendrogramme calculé avec le linkage de Ward (le linkage est détaillé à la slide suivante).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760720" cy="434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lire le dendrogramme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hauteur d'une fusion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représente la distance entre les deux clusters qui fusionnent. Plus c'est haut, plus ces clusters étaient différents.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obtenir K clusters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 « coupe » l'arbre par une ligne horizontale. Le nombre de branches traversées = le nombre de groupes.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5257800" cy="137160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Choisir K en pratique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 coupe l'arbre là où il y a le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grand saut vertical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entre deux fusions consécutives. Sur nos données : saut net de 26 à 43 (cf. dendrogramme).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303520" cy="434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C:\Users\Ilyann\Desktop\Efrei\machine_learning2\Machine-learning-2\TP3\presentation\_build\assets\dendro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00200"/>
            <a:ext cx="5120640" cy="21945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92240" y="3886200"/>
            <a:ext cx="5120640" cy="4572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du dendrogramme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0" y="438912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 </a:t>
            </a:r>
            <a:pPr indent="0" marL="0">
              <a:buNone/>
            </a:pPr>
            <a:r>
              <a:rPr lang="en-US" sz="11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rouge pointillée à h ≈ 35</a:t>
            </a:r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traverse 4 branches verticales : </a:t>
            </a:r>
            <a:pPr indent="0" marL="0">
              <a:buNone/>
            </a:pPr>
            <a:r>
              <a:rPr lang="en-US" sz="11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clusters retenus.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hauteur 35 est choisie dans le grand vide entre 26 et 43 — n'importe quelle valeur dans ce trou donne le même découpage.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4c.  Les 4 linkages : qu'est-ce que c'est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linkage » définit comment mesurer la distance entre deux clusters (un cluster contient plusieurs points). Quatre stratégies du cours.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5778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109728" cy="20574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(MIN)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Définition 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des deux points les plus PROCHES entre les deux clusters.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Caractéristique : </a:t>
            </a:r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au bruit, effet de chaînage.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5778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45920"/>
            <a:ext cx="109728" cy="20574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(MAX)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Définition 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des deux points les plus ÉLOIGNÉS entre les deux clusters.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Caractéristique : </a:t>
            </a:r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 à fragmenter les gros clusters.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5778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886200"/>
            <a:ext cx="109728" cy="20574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Définition 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 toutes les distances point-à-point entre les deux clusters.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Caractéristique : </a:t>
            </a:r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entre single et complete.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886200"/>
            <a:ext cx="5577840" cy="20574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886200"/>
            <a:ext cx="109728" cy="20574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023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48056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Définition 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l'augmentation de variance après la fusion (analogue hiérarchique de K-means).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Caractéristique : </a:t>
            </a:r>
            <a:pPr indent="0" marL="0">
              <a:buNone/>
            </a:pPr>
            <a:r>
              <a:rPr lang="en-US" sz="12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compacts et équilibrés.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4d.  Comparaison des linkages sur nos données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applique les 4 linkages au même jeu de données (K = 4) et on compare les résultats — silhouette, tailles des clusters, verdict.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384048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Tailles des 4 clusters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(MIN)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1519 / 3 / 1 /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dégénéré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1511 / 8 / 4 /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dégénéré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(MAX)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972 / 539 / 9 /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déséquilibré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711 / 697 / 96 /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équilibré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72000"/>
            <a:ext cx="11247120" cy="11887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4663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Effet de chaînage des linkages single et average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5029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Single et average ont la silhouette la plus haute (0,76 et 0,67) mais regroupent ~1500 districts dans un seul cluster — phénomène décrit dans le cours (ch.2).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produit 4 groupes équilibrés (711 / 697 / 96 / 20), exploitables pour la suite. La vérification des tailles est nécessaire en plus du score métrique.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4e.  K-means en bref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comparer notre clustering hiérarchique à K-means, deux mots sur ce second algorithme — partitionnel et très différent du nôtre.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864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: algorithme partitionnel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 fixe K à l'avance (ici K = 4) et on place K centres au hasard.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Chaque district est affecté au centre le plus proche.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Chaque centre se déplace au milieu des points qu'il a attirés.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On répète 2-3 jusqu'à ce que les centres ne bougent plus.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4480560"/>
            <a:ext cx="5074920" cy="27432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Sortie : une partition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983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district est affecté à exactement un cluster, sans hiérarchie ni arbre.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486400" cy="41148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Différences avec le hiérarchique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Hiérarchique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fixé AVANT (paramètre)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choisi APRÈS (coupe de l'arbre)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centres ajustés en boucle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fusions successives des plus proches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Reproductible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(dépend du tirage initial)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(déterministe)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rapide, scalable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 : O(N²)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46520" y="4983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algorithmes au fonctionnement opposé : c'est pour ça que leur accord (slide suivante) est significatif.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4f.  Validation croisée par K-means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vérifier la robustesse de la segmentation, on applique en parallèle K-means (algorithme partitionnel, différent du hiérarchique) sur les mêmes données, et on mesure l'accord entre les deux partitions.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840480" cy="38862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0,705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l'accord entre 2 partitions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hasard   ·   1 = identique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 accord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71323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828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286000"/>
            <a:ext cx="6720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algorithmes de clustering très différents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K-means (partitionnel, K centres ajustés) et hiérarchique agglomératif (fusions successives) — </a:t>
            </a:r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retrouvent essentiellement la même structure en 4 groupes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sur les 1524 districts.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segmentation est robuste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ce n'est pas un artefact d'une méthode, mais une vraie structure des données.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Les 4 segments retrouvés : </a:t>
            </a:r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Pionniers (96), Aisés (711), Défavorisés (697), Très grands districts (20).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4g.  Les 4 segments retenus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Caractérisation des 4 clusters obtenus avec Ward — taille, profil dominant et discours commercial associé.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77840" cy="21488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28016" cy="21488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Pionniers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9768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districts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flotte électrique  +2,97 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déjà très avancés dans l'électrification de leur flotte.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5029200" cy="1828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27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Action commerciale : </a:t>
            </a:r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 flotte, services premium.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5778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600200"/>
            <a:ext cx="128016" cy="21488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Très grands districts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14984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districts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 élèves  +7,01 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Méga-districts type New York, Los Angeles — très peu nombreux mais énormes.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154680"/>
            <a:ext cx="502920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227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Action commerciale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de volume, contrats sur mesure.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55778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31920"/>
            <a:ext cx="128016" cy="21488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Défavorisés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29768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697 districts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pauvreté  +0,57 σ   ·   % repas gratuits  +0,77 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à forte précarité socio-économique.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" y="5486400"/>
            <a:ext cx="5029200" cy="18288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559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Action commerciale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avant des subventions fédérales (EPA).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931920"/>
            <a:ext cx="55778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931920"/>
            <a:ext cx="128016" cy="2148840"/>
          </a:xfrm>
          <a:prstGeom prst="rect">
            <a:avLst/>
          </a:prstGeom>
          <a:solidFill>
            <a:srgbClr val="5B6B7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Aisés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14984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711 districts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pauvreté  −0,52 σ   ·   % repas gratuits  −0,75 σ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4892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plutôt favorisés, peu de précarité.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0" y="5486400"/>
            <a:ext cx="5029200" cy="18288"/>
          </a:xfrm>
          <a:prstGeom prst="rect">
            <a:avLst/>
          </a:prstGeom>
          <a:solidFill>
            <a:srgbClr val="5B6B7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5559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Action commerciale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standard, démarche commerciale classique.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"/>
            <a:ext cx="164592" cy="64008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pistes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validée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Dendrogramme (Ward) pour visualiser la structure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4 linkages + détection du piège single/average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tailles, pas seulement du score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confirmés par validation croisée avec K-means (ARI = 0,705)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pistes (B206)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O(N²) : moins adapté aux très gros volumes que K-means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modérée (chevauchement partiel des groupes)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clustering basé densité (DBSCAN) pour des formes non sphériques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20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Hiérarchique Ward, K = 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= 0,302   ·   ARI vs K-means = 0,705   ·   4 segments métier identifiés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227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Bar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itle"/>
          <p:cNvSpPr/>
          <p:nvPr/>
        </p:nvSpPr>
        <p:spPr>
          <a:xfrm>
            <a:off x="68580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3000" b="1" dirty="0">
                <a:solidFill>
                  <a:srgbClr val="1B3A5B"/>
                </a:solidFill>
                <a:latin typeface="Georgia" pitchFamily="34" charset="0"/>
              </a:rPr>
              <a:t>Introduction — Contexte du projet</a:t>
            </a:r>
            <a:endParaRPr lang="fr-FR" sz="1400" dirty="0"/>
          </a:p>
        </p:txBody>
      </p:sp>
      <p:sp>
        <p:nvSpPr>
          <p:cNvPr id="20" name="Card20"/>
          <p:cNvSpPr/>
          <p:nvPr/>
        </p:nvSpPr>
        <p:spPr>
          <a:xfrm>
            <a:off x="45720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Band0"/>
          <p:cNvSpPr/>
          <p:nvPr/>
        </p:nvSpPr>
        <p:spPr>
          <a:xfrm>
            <a:off x="457200" y="1188720"/>
            <a:ext cx="3291840" cy="6400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22" name="Val0"/>
          <p:cNvSpPr/>
          <p:nvPr/>
        </p:nvSpPr>
        <p:spPr>
          <a:xfrm>
            <a:off x="45720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1C9A8E"/>
                </a:solidFill>
                <a:latin typeface="Georgia" pitchFamily="34" charset="0"/>
              </a:rPr>
              <a:t>26 M</a:t>
            </a:r>
            <a:endParaRPr lang="fr-FR" sz="1400" dirty="0"/>
          </a:p>
        </p:txBody>
      </p:sp>
      <p:sp>
        <p:nvSpPr>
          <p:cNvPr id="23" name="Lbl0"/>
          <p:cNvSpPr/>
          <p:nvPr/>
        </p:nvSpPr>
        <p:spPr>
          <a:xfrm>
            <a:off x="45720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élèves américains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prennent le bus scolaire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chaque matin</a:t>
            </a:r>
            <a:endParaRPr lang="fr-FR" sz="1400" dirty="0"/>
          </a:p>
        </p:txBody>
      </p:sp>
      <p:sp>
        <p:nvSpPr>
          <p:cNvPr id="24" name="Card24"/>
          <p:cNvSpPr/>
          <p:nvPr/>
        </p:nvSpPr>
        <p:spPr>
          <a:xfrm>
            <a:off x="406908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Band1"/>
          <p:cNvSpPr/>
          <p:nvPr/>
        </p:nvSpPr>
        <p:spPr>
          <a:xfrm>
            <a:off x="4069080" y="1188720"/>
            <a:ext cx="3291840" cy="6400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6" name="Val1"/>
          <p:cNvSpPr/>
          <p:nvPr/>
        </p:nvSpPr>
        <p:spPr>
          <a:xfrm>
            <a:off x="406908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2E6E9E"/>
                </a:solidFill>
                <a:latin typeface="Georgia" pitchFamily="34" charset="0"/>
              </a:rPr>
              <a:t>480 000</a:t>
            </a:r>
            <a:endParaRPr lang="fr-FR" sz="1400" dirty="0"/>
          </a:p>
        </p:txBody>
      </p:sp>
      <p:sp>
        <p:nvSpPr>
          <p:cNvPr id="27" name="Lbl1"/>
          <p:cNvSpPr/>
          <p:nvPr/>
        </p:nvSpPr>
        <p:spPr>
          <a:xfrm>
            <a:off x="406908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bus scolaires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en circulation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(majoritairement diesel)</a:t>
            </a:r>
            <a:endParaRPr lang="fr-FR" sz="1400" dirty="0"/>
          </a:p>
        </p:txBody>
      </p:sp>
      <p:sp>
        <p:nvSpPr>
          <p:cNvPr id="28" name="Card28"/>
          <p:cNvSpPr/>
          <p:nvPr/>
        </p:nvSpPr>
        <p:spPr>
          <a:xfrm>
            <a:off x="768096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Band2"/>
          <p:cNvSpPr/>
          <p:nvPr/>
        </p:nvSpPr>
        <p:spPr>
          <a:xfrm>
            <a:off x="7680960" y="1188720"/>
            <a:ext cx="3291840" cy="64008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0" name="Val2"/>
          <p:cNvSpPr/>
          <p:nvPr/>
        </p:nvSpPr>
        <p:spPr>
          <a:xfrm>
            <a:off x="768096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1B3A5B"/>
                </a:solidFill>
                <a:latin typeface="Georgia" pitchFamily="34" charset="0"/>
              </a:rPr>
              <a:t>19 516</a:t>
            </a:r>
            <a:endParaRPr lang="fr-FR" sz="1400" dirty="0"/>
          </a:p>
        </p:txBody>
      </p:sp>
      <p:sp>
        <p:nvSpPr>
          <p:cNvPr id="31" name="Lbl2"/>
          <p:cNvSpPr/>
          <p:nvPr/>
        </p:nvSpPr>
        <p:spPr>
          <a:xfrm>
            <a:off x="768096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districts scolaires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recensés dans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le dataset WRI</a:t>
            </a:r>
            <a:endParaRPr lang="fr-FR" sz="1400" dirty="0"/>
          </a:p>
        </p:txBody>
      </p:sp>
      <p:sp>
        <p:nvSpPr>
          <p:cNvPr id="40" name="Card40"/>
          <p:cNvSpPr/>
          <p:nvPr/>
        </p:nvSpPr>
        <p:spPr>
          <a:xfrm>
            <a:off x="457200" y="2788920"/>
            <a:ext cx="64008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NBar"/>
          <p:cNvSpPr/>
          <p:nvPr/>
        </p:nvSpPr>
        <p:spPr>
          <a:xfrm>
            <a:off x="457200" y="2788920"/>
            <a:ext cx="109728" cy="23317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42" name="Narr"/>
          <p:cNvSpPr/>
          <p:nvPr/>
        </p:nvSpPr>
        <p:spPr>
          <a:xfrm>
            <a:off x="713232" y="2880360"/>
            <a:ext cx="603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Ces bus circulent souvent dans les quartiers les plus exposés à la pollution — </a:t>
            </a:r>
            <a:r>
              <a:rPr lang="fr-FR" sz="1300" b="1" dirty="0">
                <a:solidFill>
                  <a:srgbClr val="1B3A5B"/>
                </a:solidFill>
                <a:latin typeface="Calibri" pitchFamily="34" charset="0"/>
              </a:rPr>
              <a:t>une question d'équité autant que de santé publique.</a:t>
            </a:r>
            <a:endParaRPr lang="fr-FR" sz="1400" dirty="0"/>
          </a:p>
          <a:p>
            <a:pPr algn="l" indent="0" marL="0">
              <a:buNone/>
            </a:pPr>
            <a:r>
              <a:rPr lang="fr-FR" sz="8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>Depuis quelques années, des programmes fédéraux et des subventions accélèrent la transition électrique. Mais sur 19 516 districts, la grande majorité n'a pas encore franchi le pas.</a:t>
            </a:r>
            <a:endParaRPr lang="fr-FR" sz="1400" dirty="0"/>
          </a:p>
          <a:p>
            <a:pPr algn="l" indent="0" marL="0">
              <a:buNone/>
            </a:pPr>
            <a:r>
              <a:rPr lang="fr-FR" sz="8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Notre projet : utiliser le </a:t>
            </a:r>
            <a:r>
              <a:rPr lang="fr-FR" sz="1300" b="1" dirty="0">
                <a:solidFill>
                  <a:srgbClr val="1C9A8E"/>
                </a:solidFill>
                <a:latin typeface="Calibri" pitchFamily="34" charset="0"/>
              </a:rPr>
              <a:t>machine learning</a:t>
            </a: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 pour comprendre, anticiper et accélérer cette transition.</a:t>
            </a:r>
            <a:endParaRPr lang="fr-FR" sz="1400" dirty="0"/>
          </a:p>
        </p:txBody>
      </p:sp>
      <p:sp>
        <p:nvSpPr>
          <p:cNvPr id="43" name="Card43"/>
          <p:cNvSpPr/>
          <p:nvPr/>
        </p:nvSpPr>
        <p:spPr>
          <a:xfrm>
            <a:off x="7132320" y="2788920"/>
            <a:ext cx="42976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rc"/>
          <p:cNvSpPr/>
          <p:nvPr/>
        </p:nvSpPr>
        <p:spPr>
          <a:xfrm>
            <a:off x="7360920" y="288036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5B"/>
                </a:solidFill>
                <a:latin typeface="Georgia" pitchFamily="34" charset="0"/>
              </a:rPr>
              <a:t>Source de données</a:t>
            </a:r>
            <a:endParaRPr lang="fr-FR" sz="1400" dirty="0"/>
          </a:p>
          <a:p>
            <a:pPr algn="l" indent="0" marL="0">
              <a:buNone/>
            </a:pPr>
            <a:r>
              <a:rPr lang="fr-FR" sz="6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150" i="1" dirty="0">
                <a:solidFill>
                  <a:srgbClr val="1C9A8E"/>
                </a:solidFill>
                <a:latin typeface="Calibri" pitchFamily="34" charset="0"/>
              </a:rPr>
              <a:t>Dataset of U.S. Electric School Bus Adoption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5B6B7A"/>
                </a:solidFill>
                <a:latin typeface="Calibri" pitchFamily="34" charset="0"/>
              </a:rPr>
              <a:t>World Resources Institute / ESB Initiative</a:t>
            </a:r>
            <a:endParaRPr lang="fr-FR" sz="1400" dirty="0"/>
          </a:p>
          <a:p>
            <a:pPr algn="l" indent="0" marL="0">
              <a:buNone/>
            </a:pPr>
            <a:r>
              <a:rPr lang="fr-FR" sz="6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Feuille « District-level data »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Chaque ligne = un district scolaire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91 colonnes — socio-économiques,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environnementales, géographiques</a:t>
            </a:r>
            <a:endParaRPr lang="fr-FR" sz="1400" dirty="0"/>
          </a:p>
        </p:txBody>
      </p:sp>
      <p:sp>
        <p:nvSpPr>
          <p:cNvPr id="50" name="FooterBar"/>
          <p:cNvSpPr/>
          <p:nvPr/>
        </p:nvSpPr>
        <p:spPr>
          <a:xfrm>
            <a:off x="0" y="5934456"/>
            <a:ext cx="1219200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51" name="FooterL"/>
          <p:cNvSpPr/>
          <p:nvPr/>
        </p:nvSpPr>
        <p:spPr>
          <a:xfrm>
            <a:off x="457200" y="59344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Machine Learning II (ADIF84) — Lab 3 : Clustering hiérarchique</a:t>
            </a:r>
            <a:endParaRPr lang="fr-FR" sz="1400" dirty="0"/>
          </a:p>
        </p:txBody>
      </p:sp>
      <p:sp>
        <p:nvSpPr>
          <p:cNvPr id="52" name="FooterR"/>
          <p:cNvSpPr/>
          <p:nvPr/>
        </p:nvSpPr>
        <p:spPr>
          <a:xfrm>
            <a:off x="10972800" y="5934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—</a:t>
            </a:r>
            <a:endParaRPr lang="fr-FR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Bar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itle"/>
          <p:cNvSpPr/>
          <p:nvPr/>
        </p:nvSpPr>
        <p:spPr>
          <a:xfrm>
            <a:off x="68580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3000" b="1" dirty="0">
                <a:solidFill>
                  <a:srgbClr val="1B3A5B"/>
                </a:solidFill>
                <a:latin typeface="Georgia" pitchFamily="34" charset="0"/>
              </a:rPr>
              <a:t>1.  Compréhension du problème métier</a:t>
            </a:r>
            <a:endParaRPr lang="fr-FR" sz="1400" dirty="0"/>
          </a:p>
        </p:txBody>
      </p:sp>
      <p:sp>
        <p:nvSpPr>
          <p:cNvPr id="4" name="Sub"/>
          <p:cNvSpPr/>
          <p:nvPr/>
        </p:nvSpPr>
        <p:spPr>
          <a:xfrm>
            <a:off x="68580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100" i="1" dirty="0">
                <a:solidFill>
                  <a:srgbClr val="5B6B7A"/>
                </a:solidFill>
                <a:latin typeface="Calibri" pitchFamily="34" charset="0"/>
              </a:rPr>
              <a:t>Ce TP — Clustering hiérarchique agglomératif</a:t>
            </a:r>
            <a:endParaRPr lang="fr-FR" sz="1400" dirty="0"/>
          </a:p>
        </p:txBody>
      </p:sp>
      <p:sp>
        <p:nvSpPr>
          <p:cNvPr id="10" name="QBox"/>
          <p:cNvSpPr/>
          <p:nvPr/>
        </p:nvSpPr>
        <p:spPr>
          <a:xfrm>
            <a:off x="457200" y="1417320"/>
            <a:ext cx="10698480" cy="7772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QTxt"/>
          <p:cNvSpPr/>
          <p:nvPr/>
        </p:nvSpPr>
        <p:spPr>
          <a:xfrm>
            <a:off x="685800" y="1417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500" b="1" i="1" dirty="0">
                <a:solidFill>
                  <a:srgbClr val="FFFFFF"/>
                </a:solidFill>
                <a:latin typeface="Calibri" pitchFamily="34" charset="0"/>
              </a:rPr>
              <a:t>« Quels groupes de districts engagés peut-on identifier — et la structure confirme-t-elle celle du K-means ? »</a:t>
            </a:r>
            <a:endParaRPr lang="fr-FR" sz="1400" dirty="0"/>
          </a:p>
        </p:txBody>
      </p:sp>
      <p:sp>
        <p:nvSpPr>
          <p:cNvPr id="20" name="Card20"/>
          <p:cNvSpPr/>
          <p:nvPr/>
        </p:nvSpPr>
        <p:spPr>
          <a:xfrm>
            <a:off x="45720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CBar0"/>
          <p:cNvSpPr/>
          <p:nvPr/>
        </p:nvSpPr>
        <p:spPr>
          <a:xfrm>
            <a:off x="457200" y="2377440"/>
            <a:ext cx="109728" cy="23774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22" name="CTitle0"/>
          <p:cNvSpPr/>
          <p:nvPr/>
        </p:nvSpPr>
        <p:spPr>
          <a:xfrm>
            <a:off x="65836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Objectif business</a:t>
            </a:r>
            <a:endParaRPr lang="fr-FR" sz="1400" dirty="0"/>
          </a:p>
        </p:txBody>
      </p:sp>
      <p:sp>
        <p:nvSpPr>
          <p:cNvPr id="23" name="CBody0"/>
          <p:cNvSpPr/>
          <p:nvPr/>
        </p:nvSpPr>
        <p:spPr>
          <a:xfrm>
            <a:off x="65836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Segmenter les 1 524 districts engagés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sans fixer le nombre de groupes à l'avance.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Le nombre se lit dans l'arbre de fusions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(dendrogramme).</a:t>
            </a:r>
            <a:endParaRPr lang="fr-FR" sz="1400" dirty="0"/>
          </a:p>
        </p:txBody>
      </p:sp>
      <p:sp>
        <p:nvSpPr>
          <p:cNvPr id="25" name="Card25"/>
          <p:cNvSpPr/>
          <p:nvPr/>
        </p:nvSpPr>
        <p:spPr>
          <a:xfrm>
            <a:off x="406908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CBar1"/>
          <p:cNvSpPr/>
          <p:nvPr/>
        </p:nvSpPr>
        <p:spPr>
          <a:xfrm>
            <a:off x="4069080" y="2377440"/>
            <a:ext cx="109728" cy="2377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7" name="CTitle1"/>
          <p:cNvSpPr/>
          <p:nvPr/>
        </p:nvSpPr>
        <p:spPr>
          <a:xfrm>
            <a:off x="427024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Type de tâche</a:t>
            </a:r>
            <a:endParaRPr lang="fr-FR" sz="1400" dirty="0"/>
          </a:p>
        </p:txBody>
      </p:sp>
      <p:sp>
        <p:nvSpPr>
          <p:cNvPr id="28" name="CBody1"/>
          <p:cNvSpPr/>
          <p:nvPr/>
        </p:nvSpPr>
        <p:spPr>
          <a:xfrm>
            <a:off x="427024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Clustering hiérarchique agglomératif.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Tâche descriptive non supervisée.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Modèle imposé par le sujet.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Mêmes 4 variables que le TP2 → comparaison.</a:t>
            </a:r>
            <a:endParaRPr lang="fr-FR" sz="1400" dirty="0"/>
          </a:p>
        </p:txBody>
      </p:sp>
      <p:sp>
        <p:nvSpPr>
          <p:cNvPr id="30" name="Card30"/>
          <p:cNvSpPr/>
          <p:nvPr/>
        </p:nvSpPr>
        <p:spPr>
          <a:xfrm>
            <a:off x="768096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CBar2"/>
          <p:cNvSpPr/>
          <p:nvPr/>
        </p:nvSpPr>
        <p:spPr>
          <a:xfrm>
            <a:off x="7680960" y="2377440"/>
            <a:ext cx="109728" cy="23774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2" name="CTitle2"/>
          <p:cNvSpPr/>
          <p:nvPr/>
        </p:nvSpPr>
        <p:spPr>
          <a:xfrm>
            <a:off x="788212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Intérêt métier</a:t>
            </a:r>
            <a:endParaRPr lang="fr-FR" sz="1400" dirty="0"/>
          </a:p>
        </p:txBody>
      </p:sp>
      <p:sp>
        <p:nvSpPr>
          <p:cNvPr id="33" name="CBody2"/>
          <p:cNvSpPr/>
          <p:nvPr/>
        </p:nvSpPr>
        <p:spPr>
          <a:xfrm>
            <a:off x="788212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Valider ou infirmer la structure K-means.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Piège connu : l'effet de chaînage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donne de bons scores mais des groupes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inutilisables — l'interprétation prime.</a:t>
            </a:r>
            <a:endParaRPr lang="fr-FR" sz="1400" dirty="0"/>
          </a:p>
        </p:txBody>
      </p:sp>
      <p:sp>
        <p:nvSpPr>
          <p:cNvPr id="50" name="RCard50"/>
          <p:cNvSpPr/>
          <p:nvPr/>
        </p:nvSpPr>
        <p:spPr>
          <a:xfrm>
            <a:off x="457200" y="4892040"/>
            <a:ext cx="10698480" cy="59436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51" name="Note"/>
          <p:cNvSpPr/>
          <p:nvPr/>
        </p:nvSpPr>
        <p:spPr>
          <a:xfrm>
            <a:off x="640080" y="48920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5B"/>
                </a:solidFill>
                <a:latin typeface="Calibri" pitchFamily="34" charset="0"/>
              </a:rPr>
              <a:t xml:space="preserve">Avantage clé : </a:t>
            </a:r>
            <a:r>
              <a:rPr lang="fr-FR" sz="1200" dirty="0">
                <a:solidFill>
                  <a:srgbClr val="1E2A36"/>
                </a:solidFill>
                <a:latin typeface="Calibri" pitchFamily="34" charset="0"/>
              </a:rPr>
              <a:t>contrairement au K-means, le nombre de clusters n'est pas fixé a priori — il émerge du dendrogramme.</a:t>
            </a:r>
            <a:endParaRPr lang="fr-FR" sz="1400" dirty="0"/>
          </a:p>
        </p:txBody>
      </p:sp>
      <p:sp>
        <p:nvSpPr>
          <p:cNvPr id="55" name="FooterBar"/>
          <p:cNvSpPr/>
          <p:nvPr/>
        </p:nvSpPr>
        <p:spPr>
          <a:xfrm>
            <a:off x="0" y="5934456"/>
            <a:ext cx="1219200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56" name="FooterL"/>
          <p:cNvSpPr/>
          <p:nvPr/>
        </p:nvSpPr>
        <p:spPr>
          <a:xfrm>
            <a:off x="457200" y="59344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Machine Learning II (ADIF84) — Lab 3 : Clustering hiérarchique</a:t>
            </a:r>
            <a:endParaRPr lang="fr-FR" sz="1400" dirty="0"/>
          </a:p>
        </p:txBody>
      </p:sp>
      <p:sp>
        <p:nvSpPr>
          <p:cNvPr id="57" name="FooterR"/>
          <p:cNvSpPr/>
          <p:nvPr/>
        </p:nvSpPr>
        <p:spPr>
          <a:xfrm>
            <a:off x="10972800" y="5934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—</a:t>
            </a:r>
            <a:endParaRPr lang="fr-F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 — Clustering hiérarchique</dc:title>
  <dc:subject>PptxGenJS Presentation</dc:subject>
  <dc:creator>Equipe ML II</dc:creator>
  <cp:lastModifiedBy>Equipe ML II</cp:lastModifiedBy>
  <cp:revision>1</cp:revision>
  <dcterms:created xsi:type="dcterms:W3CDTF">2026-05-27T13:59:40Z</dcterms:created>
  <dcterms:modified xsi:type="dcterms:W3CDTF">2026-05-27T13:59:40Z</dcterms:modified>
</cp:coreProperties>
</file>