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— ADIF84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5 — Détection d'anomalies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districts économiquement incohérents à l'aide de DBSCAN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43891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24496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389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43891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métier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0440" y="43891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24496E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4389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69080" y="43891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 des données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43891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24496E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4389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75120" y="43891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32520" y="43891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24496E"/>
          </a:solidFill>
          <a:ln/>
        </p:spPr>
      </p:sp>
      <p:sp>
        <p:nvSpPr>
          <p:cNvPr id="16" name="Text 14"/>
          <p:cNvSpPr/>
          <p:nvPr/>
        </p:nvSpPr>
        <p:spPr>
          <a:xfrm>
            <a:off x="8732520" y="4389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81160" y="43891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&amp; réglage du modèle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imposé par le sujet : DBSCAN — clustering basé sur la densité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 Compréhension du problème métier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68580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109728" cy="3657600"/>
          </a:xfrm>
          <a:prstGeom prst="rect">
            <a:avLst/>
          </a:prstGeom>
          <a:solidFill>
            <a:srgbClr val="2E6E9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 business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64008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</a:t>
            </a:r>
            <a:pPr indent="0" marL="0">
              <a:buNone/>
            </a:pPr>
            <a:r>
              <a:rPr lang="en-US" sz="1300" b="1" dirty="0">
                <a:solidFill>
                  <a:srgbClr val="1C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économiquement incohérents</a:t>
            </a:r>
            <a:pPr indent="0" marL="0">
              <a:buNone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ceux dont le niveau d'adoption des bus électriques ne suit pas leur capacité économique.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profils particulièrement intéressants pour le métier 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Districts riches mais qui n'investissent pas → gros potentiel commercial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Districts pauvres qui investissent quand même → références à valoriser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589520" y="1188720"/>
            <a:ext cx="4114800" cy="365760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0" y="173736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Quels districts se comportent de manière atypique par rapport à la corrélation attendue entre richesse et électrification ? 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0" y="3383280"/>
            <a:ext cx="3703320" cy="18288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3520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de tâche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0" y="3931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d'anomalies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 supervisée — on identifie les points qui s'écartent du comportement majoritaire).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E3EEF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imposé par le sujet :  </a:t>
            </a:r>
            <a:pPr indent="0" marL="0">
              <a:buNone/>
            </a:pPr>
            <a:r>
              <a:rPr lang="en-US" sz="13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— algorithme de clustering basé sur la densité, capable d'étiqueter nativement les points isolés comme anomalies.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 Compréhension des données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657600" cy="91440"/>
          </a:xfrm>
          <a:prstGeom prst="rect">
            <a:avLst/>
          </a:prstGeom>
          <a:solidFill>
            <a:srgbClr val="2E6E9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6E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12 837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scolaires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(filtrés depuis 19 516)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1688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61688" y="1188720"/>
            <a:ext cx="3657600" cy="91440"/>
          </a:xfrm>
          <a:prstGeom prst="rect">
            <a:avLst/>
          </a:prstGeom>
          <a:solidFill>
            <a:srgbClr val="147A70"/>
          </a:solidFill>
          <a:ln/>
        </p:spPr>
      </p:sp>
      <p:sp>
        <p:nvSpPr>
          <p:cNvPr id="10" name="Text 8"/>
          <p:cNvSpPr/>
          <p:nvPr/>
        </p:nvSpPr>
        <p:spPr>
          <a:xfrm>
            <a:off x="4361688" y="1325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7A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361688" y="2011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socio-économiques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imposées par le sujet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66176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1188720"/>
            <a:ext cx="3657600" cy="91440"/>
          </a:xfrm>
          <a:prstGeom prst="rect">
            <a:avLst/>
          </a:prstGeom>
          <a:solidFill>
            <a:srgbClr val="C8872E"/>
          </a:solidFill>
          <a:ln/>
        </p:spPr>
      </p:sp>
      <p:sp>
        <p:nvSpPr>
          <p:cNvPr id="14" name="Text 12"/>
          <p:cNvSpPr/>
          <p:nvPr/>
        </p:nvSpPr>
        <p:spPr>
          <a:xfrm>
            <a:off x="8266176" y="1325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8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 1 %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266176" y="2011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attendues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(taux typique en détection)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112471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2926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3 variables utilisées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337560"/>
            <a:ext cx="109728" cy="292608"/>
          </a:xfrm>
          <a:prstGeom prst="rect">
            <a:avLst/>
          </a:prstGeom>
          <a:solidFill>
            <a:srgbClr val="2E6E9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337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3i. % flotte électrique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09160" y="333756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du parc de bus déjà électrifiés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3703320"/>
            <a:ext cx="109728" cy="292608"/>
          </a:xfrm>
          <a:prstGeom prst="rect">
            <a:avLst/>
          </a:prstGeom>
          <a:solidFill>
            <a:srgbClr val="147A7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03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4f. Revenu médian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09160" y="370332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économique du district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69080"/>
            <a:ext cx="109728" cy="292608"/>
          </a:xfrm>
          <a:prstGeom prst="rect">
            <a:avLst/>
          </a:prstGeom>
          <a:solidFill>
            <a:srgbClr val="C8872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4g. % pauvreté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09160" y="40690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la population sous le seuil de pauvreté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572000"/>
            <a:ext cx="11247120" cy="128016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4663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— dataset projet ESB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029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part du même fichier brut que les autres TPs (Electric School Bus Initiative, 19 516 districts).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 TP5, on ne garde que les 3 variables imposées par le sujet et on filtre les districts avec données complètes → 12 837 lignes, ensuite standardisées.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 Préparation des données d'entraînement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transformations appliquées en amont par l'équipe pour passer du dataset brut au fichier d'entraînement anomalies.csv.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471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00200"/>
            <a:ext cx="109728" cy="914400"/>
          </a:xfrm>
          <a:prstGeom prst="rect">
            <a:avLst/>
          </a:prstGeom>
          <a:solidFill>
            <a:srgbClr val="2E6E9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801368"/>
            <a:ext cx="502920" cy="502920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709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Sélection des variables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garde uniquement les 3 variables imposées par le sujet : revenu médian, % pauvreté, % flotte électrique.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12471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651760"/>
            <a:ext cx="109728" cy="914400"/>
          </a:xfrm>
          <a:prstGeom prst="rect">
            <a:avLst/>
          </a:prstGeom>
          <a:solidFill>
            <a:srgbClr val="147A70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852928"/>
            <a:ext cx="502920" cy="502920"/>
          </a:xfrm>
          <a:prstGeom prst="ellipse">
            <a:avLst/>
          </a:prstGeom>
          <a:solidFill>
            <a:srgbClr val="147A7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27614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des districts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3108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conserve que les districts ayant les 3 variables renseignées. Résultat : 19 516 → 12 837 districts.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03320"/>
            <a:ext cx="112471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703320"/>
            <a:ext cx="109728" cy="914400"/>
          </a:xfrm>
          <a:prstGeom prst="rect">
            <a:avLst/>
          </a:prstGeom>
          <a:solidFill>
            <a:srgbClr val="C887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3904488"/>
            <a:ext cx="502920" cy="502920"/>
          </a:xfrm>
          <a:prstGeom prst="ellipse">
            <a:avLst/>
          </a:prstGeom>
          <a:solidFill>
            <a:srgbClr val="C8872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17320" y="3813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Standardisation z-score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variable : (x − moyenne) ÷ écart-type. Résultat final : moyenne 0, écart-type 1.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5800" y="49377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Pourquoi la standardisation est indispensable pour DBSCAN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5285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repose sur des distances euclidiennes. Sans standardisation, le revenu (en milliers de dollars) écraserait totalement le % de pauvreté et le % flotte électrique (en pourcentages).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extrêmes laissées en place : </a:t>
            </a:r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% flotte électrique contient des erreurs de saisie (&gt; 100 %, jusqu'à +89 σ). On ne les supprime pas — DBSCAN va précisément les détecter comme anomalies.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4a.  L'algorithme DBSCAN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— Density-Based Spatial Clustering of Applications with Noise. Algorithme de clustering basé sur la densité, parfait pour la détection d'anomalies.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Principe : trois types de points (cours, ch. 4)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E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central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possède au moins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MinPts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points dans son rayon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(lui-même inclus). Cœur d'un cluster.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C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frontière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n'est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central, mais se trouve dans le rayon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d'un point central. Bord d'un cluster.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bruit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n'est ni central, ni frontière : aucun point central dans son rayon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Étiquette -1 → anomalie.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3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connecte les points centraux voisins en clusters, on rattache les frontières au cluster d'un central proche, et on isole les bruits.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486400" cy="416052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Différences avec K-means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945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E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DBSCAN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9A8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 clusters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fixé avant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déterminé automatiquement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gérés (force l'assignation)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étiquette -1 native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Forme clusters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sphériques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quelconques (densité)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Paramètres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K, init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eps, min_samples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446520" y="50749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DBSCAN est le seul à étiqueter nativement les anomalies, ce qui en fait l'algorithme de référence pour notre tâche.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4b.  Choix de eps — méthode du k-distance graph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calcule la distance au k-ième voisin de chaque point, on trie, et on cherche le « coude » : là où la densité change brusquement, on a notre eps.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685800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\Users\Ilyann\Desktop\Efrei\machine_learning2\Machine-learning-2\TP5\presentation\_build\k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0" y="1600200"/>
            <a:ext cx="4251960" cy="416052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68096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 du graphe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680960" y="2194560"/>
            <a:ext cx="39776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choisit k = min_samples = 10.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95 % des points ont leur 10e voisin à distance &lt; 0,25.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coude apparaît autour de eps ≈ 0,5.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Au-delà, les points sont isolés — futurs outliers.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Choix : eps = 0,5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Affiné ensuite par une grille eps × min_samples.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4c.  Réglage fin — grille eps × min_samples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teste plusieurs combinaisons autour du coude. Critère : un taux d'anomalies raisonnable (typiquement entre 0,5 % et 5 %).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73152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45920"/>
                <a:gridCol w="1828800"/>
                <a:gridCol w="128016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Outliers détectés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outliers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88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C88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 sensible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4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4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4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4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4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 retenu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88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C88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 conservateur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55280" y="1691640"/>
            <a:ext cx="3794760" cy="402336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138160" y="1828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: eps = 0,5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2240280"/>
            <a:ext cx="3520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Aligné avec le coude du k-distance graph.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outliers détectés (0,8 %), proportion raisonnable.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cluster principal contenant 99,2 % des districts.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min_samples = 10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empirique : ≥ 2 × dim (ici 2 × 3 = 6, on prend 10 pour plus de robustesse).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4d.  Résultats — 108 anomalies détectées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657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657600" cy="9144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détectés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(0,8 % du dataset)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1688" y="1188720"/>
            <a:ext cx="3657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61688" y="1188720"/>
            <a:ext cx="3657600" cy="91440"/>
          </a:xfrm>
          <a:prstGeom prst="rect">
            <a:avLst/>
          </a:prstGeom>
          <a:solidFill>
            <a:srgbClr val="2E6E9E"/>
          </a:solidFill>
          <a:ln/>
        </p:spPr>
      </p:sp>
      <p:sp>
        <p:nvSpPr>
          <p:cNvPr id="10" name="Text 8"/>
          <p:cNvSpPr/>
          <p:nvPr/>
        </p:nvSpPr>
        <p:spPr>
          <a:xfrm>
            <a:off x="4361688" y="1325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6E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12 729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61688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dans le cluster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(99,2 %)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66176" y="1188720"/>
            <a:ext cx="3657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1188720"/>
            <a:ext cx="3657600" cy="91440"/>
          </a:xfrm>
          <a:prstGeom prst="rect">
            <a:avLst/>
          </a:prstGeom>
          <a:solidFill>
            <a:srgbClr val="147A70"/>
          </a:solidFill>
          <a:ln/>
        </p:spPr>
      </p:sp>
      <p:sp>
        <p:nvSpPr>
          <p:cNvPr id="14" name="Text 12"/>
          <p:cNvSpPr/>
          <p:nvPr/>
        </p:nvSpPr>
        <p:spPr>
          <a:xfrm>
            <a:off x="8266176" y="1325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7A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66176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 métier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identifiées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68580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7" name="Image 0" descr="C:\Users\Ilyann\Desktop\Efrei\machine_learning2\Machine-learning-2\TP5\presentation\_build\scatter_outli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6675120" cy="29260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498080" y="2743200"/>
            <a:ext cx="4251960" cy="301752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680960" y="2880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 du scatter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680960" y="329184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bleus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12 729 districts du cluster principal — comportement attendu.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rouges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108 anomalies isolées par DBSCAN.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voit nettement les anomalies aux extrémités du nuage — districts atypiques sur au moins une des 3 variables.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4e.  Catégorisation métier des anomalies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108 outliers ne sont pas tous équivalents pour le métier — on les classe selon le sens des écarts observés.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5778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00200"/>
            <a:ext cx="128016" cy="1965960"/>
          </a:xfrm>
          <a:prstGeom prst="rect">
            <a:avLst/>
          </a:prstGeom>
          <a:solidFill>
            <a:srgbClr val="C8872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09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Riches sous-investis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663440" y="17373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8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districts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6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 élevé + % électrique faible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" y="2514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avec capacité économique mais peu d'investissement dans la flotte électrique.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063240"/>
            <a:ext cx="5029200" cy="18288"/>
          </a:xfrm>
          <a:prstGeom prst="rect">
            <a:avLst/>
          </a:prstGeom>
          <a:solidFill>
            <a:srgbClr val="C8872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36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: forte cible commerciale — gros potentiel d'achat.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55778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600200"/>
            <a:ext cx="128016" cy="1965960"/>
          </a:xfrm>
          <a:prstGeom prst="rect">
            <a:avLst/>
          </a:prstGeom>
          <a:solidFill>
            <a:srgbClr val="147A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709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Pauvres pionniers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515600" y="17373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4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districts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103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6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 faible OU pauvreté élevée + % électrique élevé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0" y="2514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défavorisés qui ont réussi à investir malgré tout — souvent grâce aux subventions.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83680" y="3063240"/>
            <a:ext cx="5029200" cy="18288"/>
          </a:xfrm>
          <a:prstGeom prst="rect">
            <a:avLst/>
          </a:prstGeom>
          <a:solidFill>
            <a:srgbClr val="147A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3136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: référence à mettre en avant dans la démarche commerciale.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749040"/>
            <a:ext cx="55778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749040"/>
            <a:ext cx="128016" cy="196596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Sur-électrifiés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634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districts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4251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6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électrique anormalement élevé (&gt; 5 σ)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46634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très extrêmes, probablement erreurs de saisie dans la source (% &gt; 100 %).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5212080"/>
            <a:ext cx="5029200" cy="18288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2852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: à vérifier dans le pipeline de données amont.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3749040"/>
            <a:ext cx="55778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9360" y="3749040"/>
            <a:ext cx="128016" cy="1965960"/>
          </a:xfrm>
          <a:prstGeom prst="rect">
            <a:avLst/>
          </a:prstGeom>
          <a:solidFill>
            <a:srgbClr val="5B6B7A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Profils rares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5156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districts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0" y="4251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6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Autres combinaisons atypiques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83680" y="46634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multidimensionnelles qui ne rentrent dans aucune des catégories ci-dessus.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83680" y="5212080"/>
            <a:ext cx="5029200" cy="18288"/>
          </a:xfrm>
          <a:prstGeom prst="rect">
            <a:avLst/>
          </a:prstGeom>
          <a:solidFill>
            <a:srgbClr val="5B6B7A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52852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: à analyser au cas par cas.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4f.  Isolation Forest en bref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algorithme de détection d'anomalies, utilisé pour valider les résultats de DBSCAN. Approche radicalement différente, fondée sur des arbres aléatoires.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Principe : isoler par découpages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Construire de nombreux arbres aléatoires qui découpent l'espace par des coupes successives sur les variables.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Mesurer combien de coupes il faut pour isoler chaque point.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Les anomalies sont isolées en peu de coupes (elles sont « à part »), les points normaux en demandent beaucoup.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4983480"/>
            <a:ext cx="4846320" cy="18288"/>
          </a:xfrm>
          <a:prstGeom prst="rect">
            <a:avLst/>
          </a:prstGeom>
          <a:solidFill>
            <a:srgbClr val="2E6E9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50749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Atout : </a:t>
            </a:r>
            <a:pPr indent="0" marL="0"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besoin de calculer des distances — donc plus rapide et scalable que DBSCAN sur de gros volumes.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416052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Différences avec DBSCAN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94560"/>
          <a:ext cx="51206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714500"/>
                <a:gridCol w="17145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DBSCAN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E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9A8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densité (voisinage)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arbres aléatoires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(euclidienne)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à fixer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(eps + min_s)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(contamination)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bonne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7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6446520" y="5029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logiques opposées : la convergence des deux méthodes sur un même point renforce la fiabilité de la détection.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50292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4g.  Comparaison sur nos données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applique les deux algorithmes aux mêmes données avec le même taux d'anomalies (~0,8 %), et on mesure leur accord par l'indice de Jaccard.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840480" cy="3886200"/>
          </a:xfrm>
          <a:prstGeom prst="rect">
            <a:avLst/>
          </a:prstGeom>
          <a:solidFill>
            <a:srgbClr val="1B3A5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1945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0,649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de Jaccard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l'accord entre 2 ensembles d'anomalies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aucun accord   ·   1 = identique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846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 accord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0" y="1691640"/>
            <a:ext cx="7132320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18288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Détail de la comparaison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00600" y="2286000"/>
            <a:ext cx="6720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6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DBSCAN    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108 anomalies détectées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7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IsolationF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108 anomalies détectées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Communes aux deux      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85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Uniquement DBSCAN      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23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Uniquement IsolationF  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23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3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 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algorithmes de logiques opposées (densité vs arbres) identifient </a:t>
            </a:r>
            <a:pPr indent="0" marL="0">
              <a:buNone/>
            </a:pPr>
            <a:r>
              <a:rPr lang="en-US" sz="1200" b="1" dirty="0">
                <a:solidFill>
                  <a:srgbClr val="1C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anomalies communes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131 anomalies au total — soit un indice de Jaccard de 0,649. Les 85 anomalies détectées par les deux méthodes sont les plus fiables.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B3A5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"/>
            <a:ext cx="164592" cy="640080"/>
          </a:xfrm>
          <a:prstGeom prst="rect">
            <a:avLst/>
          </a:prstGeom>
          <a:solidFill>
            <a:srgbClr val="1C9A8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pistes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Démarche validée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k-distance graph pour calibrer eps (0,5)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eps × min_samples — 18 combinaisons testées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anomalies détectées (0,8 %, taux raisonnable)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croisée par Isolation Forest (Jaccard 0,65)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645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Limites &amp; pistes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09360" y="210312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sensible au choix de eps — un mauvais réglage sur/sous-détecte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aberrantes amont (% &gt; 100 %) à corriger dans le pipeline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 : combiner DBSCAN + Isolation Forest pour une détection robuste (intersection des résultats = 85 anomalies certaines)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10698480" cy="1005840"/>
          </a:xfrm>
          <a:prstGeom prst="rect">
            <a:avLst/>
          </a:prstGeom>
          <a:solidFill>
            <a:srgbClr val="2E6E9E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51206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 : DBSCAN (eps = 0,5, min_samples = 10)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anomalies   ·   4 catégories métier   ·   85 confirmées par Isolation Forest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12273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II (ADIF84) — Lab 5 : Détection d'anomalies (DBSCAN)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537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5 — Détection d'anomalies (DBSCAN)</dc:title>
  <dc:subject>PptxGenJS Presentation</dc:subject>
  <dc:creator>Equipe ML II</dc:creator>
  <cp:lastModifiedBy>Equipe ML II</cp:lastModifiedBy>
  <cp:revision>1</cp:revision>
  <dcterms:created xsi:type="dcterms:W3CDTF">2026-05-27T21:36:05Z</dcterms:created>
  <dcterms:modified xsi:type="dcterms:W3CDTF">2026-05-27T21:36:05Z</dcterms:modified>
</cp:coreProperties>
</file>