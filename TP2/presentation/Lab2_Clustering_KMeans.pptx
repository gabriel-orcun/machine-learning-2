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3A5B"/>
                </a:solidFill>
                <a:latin typeface="Georgia"/>
              </a:defRPr>
            </a:pPr>
            <a:r>
              <a:rPr sz="1300" b="0" i="0" u="none" strike="noStrike">
                <a:solidFill>
                  <a:srgbClr val="1B3A5B"/>
                </a:solidFill>
                <a:latin typeface="Georgia"/>
              </a:rPr>
              <a:t>Méthode du coude — inertie selon K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Inertie</c:v>
                </c:pt>
              </c:strCache>
            </c:strRef>
          </c:tx>
          <c:spPr>
            <a:solidFill>
              <a:srgbClr val="2E6E9E"/>
            </a:solidFill>
            <a:ln w="38100" cap="flat">
              <a:solidFill>
                <a:srgbClr val="2E6E9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6E9E"/>
              </a:solidFill>
              <a:ln w="9525" cap="flat">
                <a:solidFill>
                  <a:srgbClr val="2E6E9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  <c:pt idx="6">
                    <c:v>8</c:v>
                  </c:pt>
                  <c:pt idx="7">
                    <c:v>9</c:v>
                  </c:pt>
                  <c:pt idx="8">
                    <c:v>10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4622</c:v>
                </c:pt>
                <c:pt idx="1">
                  <c:v>3632</c:v>
                </c:pt>
                <c:pt idx="2">
                  <c:v>2731</c:v>
                </c:pt>
                <c:pt idx="3">
                  <c:v>2280</c:v>
                </c:pt>
                <c:pt idx="4">
                  <c:v>2011</c:v>
                </c:pt>
                <c:pt idx="5">
                  <c:v>1796</c:v>
                </c:pt>
                <c:pt idx="6">
                  <c:v>1632</c:v>
                </c:pt>
                <c:pt idx="7">
                  <c:v>1477</c:v>
                </c:pt>
                <c:pt idx="8">
                  <c:v>1362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3A5B"/>
                </a:solidFill>
                <a:latin typeface="Georgia"/>
              </a:defRPr>
            </a:pPr>
            <a:r>
              <a:rPr sz="1300" b="0" i="0" u="none" strike="noStrike">
                <a:solidFill>
                  <a:srgbClr val="1B3A5B"/>
                </a:solidFill>
                <a:latin typeface="Georgia"/>
              </a:rPr>
              <a:t>Silhouette selon K — maximum à K = 4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Silhouette</c:v>
                </c:pt>
              </c:strCache>
            </c:strRef>
          </c:tx>
          <c:spPr>
            <a:solidFill>
              <a:srgbClr val="1C9A8E"/>
            </a:solidFill>
            <a:ln w="38100" cap="flat">
              <a:solidFill>
                <a:srgbClr val="1C9A8E"/>
              </a:solidFill>
              <a:prstDash val="solid"/>
              <a:round/>
            </a:ln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A36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9A8E"/>
              </a:solidFill>
              <a:ln w="9525" cap="flat">
                <a:solidFill>
                  <a:srgbClr val="1C9A8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  <c:pt idx="6">
                    <c:v>8</c:v>
                  </c:pt>
                  <c:pt idx="7">
                    <c:v>9</c:v>
                  </c:pt>
                  <c:pt idx="8">
                    <c:v>10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0.279</c:v>
                </c:pt>
                <c:pt idx="1">
                  <c:v>0.294</c:v>
                </c:pt>
                <c:pt idx="2">
                  <c:v>0.327</c:v>
                </c:pt>
                <c:pt idx="3">
                  <c:v>0.292</c:v>
                </c:pt>
                <c:pt idx="4">
                  <c:v>0.297</c:v>
                </c:pt>
                <c:pt idx="5">
                  <c:v>0.307</c:v>
                </c:pt>
                <c:pt idx="6">
                  <c:v>0.269</c:v>
                </c:pt>
                <c:pt idx="7">
                  <c:v>0.281</c:v>
                </c:pt>
                <c:pt idx="8">
                  <c:v>0.286</c:v>
                </c:pt>
              </c:numCache>
            </c:numRef>
          </c:val>
          <c:smooth val="0"/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E2A36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4"/>
          <c:min val="0.2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3A5B"/>
                </a:solidFill>
                <a:latin typeface="Georgia"/>
              </a:defRPr>
            </a:pPr>
            <a:r>
              <a:rPr sz="1200" b="0" i="0" u="none" strike="noStrike">
                <a:solidFill>
                  <a:srgbClr val="1B3A5B"/>
                </a:solidFill>
                <a:latin typeface="Georgia"/>
              </a:rPr>
              <a:t>Silhouette (K=4) — K-means devant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Silhouette (↑ mieux)</c:v>
                </c:pt>
              </c:strCache>
            </c:strRef>
          </c:tx>
          <c:spPr>
            <a:solidFill>
              <a:srgbClr val="1C9A8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A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9A8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6E9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K-means</c:v>
                  </c:pt>
                  <c:pt idx="1">
                    <c:v>Agglomératif (Ward)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0.327</c:v>
                </c:pt>
                <c:pt idx="1">
                  <c:v>0.302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E2A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3A5B"/>
                </a:solidFill>
                <a:latin typeface="Georgia"/>
              </a:defRPr>
            </a:pPr>
            <a:r>
              <a:rPr sz="1200" b="0" i="0" u="none" strike="noStrike">
                <a:solidFill>
                  <a:srgbClr val="1B3A5B"/>
                </a:solidFill>
                <a:latin typeface="Georgia"/>
              </a:rPr>
              <a:t>Davies-Bouldin (K=4) — K-means devant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Davies-Bouldin (↓ mieux)</c:v>
                </c:pt>
              </c:strCache>
            </c:strRef>
          </c:tx>
          <c:spPr>
            <a:solidFill>
              <a:srgbClr val="1C9A8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A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9A8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6E9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K-means</c:v>
                  </c:pt>
                  <c:pt idx="1">
                    <c:v>Agglomératif (Ward)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0.943</c:v>
                </c:pt>
                <c:pt idx="1">
                  <c:v>0.982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E2A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280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— ADIF84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2 — Segmentation des districts par K-means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des profils-types de districts engagés pour cibler une démarche commerciale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420624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24496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2062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4206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métier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20440" y="420624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24496E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42062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069080" y="4206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Compréhension des données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420624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24496E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42062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675120" y="4206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32520" y="420624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24496E"/>
          </a:solidFill>
          <a:ln/>
        </p:spPr>
      </p:sp>
      <p:sp>
        <p:nvSpPr>
          <p:cNvPr id="16" name="Text 14"/>
          <p:cNvSpPr/>
          <p:nvPr/>
        </p:nvSpPr>
        <p:spPr>
          <a:xfrm>
            <a:off x="8732520" y="42062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281160" y="4206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&amp; réglage du modèle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 non supervisée — clustering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 Compréhension du problème métier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4864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09728" cy="365760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Objectif business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des </a:t>
            </a:r>
            <a:pPr indent="0" marL="0">
              <a:buNone/>
            </a:pPr>
            <a:r>
              <a:rPr lang="en-US" sz="1400" b="1" dirty="0">
                <a:solidFill>
                  <a:srgbClr val="1C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 (segments) de districts</a:t>
            </a:r>
            <a:pPr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parmi ceux déjà engagés dans les bus électriques, afin de mieux cibler une démarche commerciale / publicitaire.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Décideur visé : société de vente de bus électriques.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977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Existe-t-il des profils-types de districts engagés, vers lesquels adapter un discours commercial distinct ? »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5486400" cy="173736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 de tâche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46520" y="178308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— non supervisé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« bonne réponse » à prédire : on cherche une structure cachée dans les données (tâche descriptive).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3108960"/>
            <a:ext cx="54864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3246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variables socio-économiques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36576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flotte électrique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d'élèves (taille)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repas gratuits (précarité scolaire)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pauvreté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5029200"/>
            <a:ext cx="11247120" cy="914400"/>
          </a:xfrm>
          <a:prstGeom prst="roundRect">
            <a:avLst>
              <a:gd name="adj" fmla="val 6000"/>
            </a:avLst>
          </a:prstGeom>
          <a:solidFill>
            <a:srgbClr val="E3EEF5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0292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 commerciale :  </a:t>
            </a:r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segment appelle un discours distinct (extension de flotte, mise en avant des subventions, offres de volume…).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2 : Segmentation des districts (K-means)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 Compréhension des données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3657600" cy="9144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6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1 524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engagés (committed = yes)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61688" y="123444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61688" y="1234440"/>
            <a:ext cx="3657600" cy="91440"/>
          </a:xfrm>
          <a:prstGeom prst="rect">
            <a:avLst/>
          </a:prstGeom>
          <a:solidFill>
            <a:srgbClr val="147A70"/>
          </a:solidFill>
          <a:ln/>
        </p:spPr>
      </p:sp>
      <p:sp>
        <p:nvSpPr>
          <p:cNvPr id="10" name="Text 8"/>
          <p:cNvSpPr/>
          <p:nvPr/>
        </p:nvSpPr>
        <p:spPr>
          <a:xfrm>
            <a:off x="4361688" y="14173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7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361688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retenues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66176" y="123444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66176" y="1234440"/>
            <a:ext cx="3657600" cy="91440"/>
          </a:xfrm>
          <a:prstGeom prst="rect">
            <a:avLst/>
          </a:prstGeom>
          <a:solidFill>
            <a:srgbClr val="C8872E"/>
          </a:solidFill>
          <a:ln/>
        </p:spPr>
      </p:sp>
      <p:sp>
        <p:nvSpPr>
          <p:cNvPr id="14" name="Text 12"/>
          <p:cNvSpPr/>
          <p:nvPr/>
        </p:nvSpPr>
        <p:spPr>
          <a:xfrm>
            <a:off x="8266176" y="14173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88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266176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aberrantes détectées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112471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834640"/>
            <a:ext cx="109728" cy="1371600"/>
          </a:xfrm>
          <a:prstGeom prst="rect">
            <a:avLst/>
          </a:prstGeom>
          <a:solidFill>
            <a:srgbClr val="C8872E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9718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Détection de valeurs aberrantes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33832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variable « % flotte électrique » contenait des valeurs &gt; 100 % (jusqu'à 2300 % !). </a:t>
            </a:r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sont des erreurs de données. K-means étant très sensible aux valeurs extrêmes, elles fausseraient totalement le clustering. → Elles seront plafonnées à 100 % lors de la préparation.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434840"/>
            <a:ext cx="11247120" cy="1325880"/>
          </a:xfrm>
          <a:prstGeom prst="rect">
            <a:avLst/>
          </a:prstGeom>
          <a:solidFill>
            <a:srgbClr val="E3EEF5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5262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Exploration menée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48463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valeurs manquantes par variable (jusqu'à 19 % sur « % flotte électrique »), statistiques descriptives, et histogrammes des 4 variables — qui ont révélé les valeurs extrêmes ci-dessus.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2 : Segmentation des districts (K-means)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 Préparation des données d'entraînement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5778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90472"/>
            <a:ext cx="502920" cy="502920"/>
          </a:xfrm>
          <a:prstGeom prst="ellipse">
            <a:avLst/>
          </a:prstGeom>
          <a:solidFill>
            <a:srgbClr val="1B3A5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90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38074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Correction des aberrants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764792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% flotte électrique » plafonné à 100 %. K-means minimise des distances au carré → un point aberrant accaparerait un cluster entier.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234440"/>
            <a:ext cx="55778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490472"/>
            <a:ext cx="502920" cy="502920"/>
          </a:xfrm>
          <a:prstGeom prst="ellipse">
            <a:avLst/>
          </a:prstGeom>
          <a:solidFill>
            <a:srgbClr val="1B3A5B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490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23760" y="138074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Imputation (médiane)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0" y="1764792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manquantes remplacées par la médiane, robuste aux valeurs extrêmes (contrairement à la moyenne).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55778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044952"/>
            <a:ext cx="502920" cy="502920"/>
          </a:xfrm>
          <a:prstGeom prst="ellipse">
            <a:avLst/>
          </a:prstGeom>
          <a:solidFill>
            <a:srgbClr val="1B3A5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044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293522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Standardisation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3319272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: indispensable car K-means repose sur des distances. Sans elle, « Nb élèves » (milliers) écraserait les % (0–1).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2788920"/>
            <a:ext cx="55778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3044952"/>
            <a:ext cx="502920" cy="502920"/>
          </a:xfrm>
          <a:prstGeom prst="ellipse">
            <a:avLst/>
          </a:prstGeom>
          <a:solidFill>
            <a:srgbClr val="1B3A5B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3044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23760" y="293522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Export du jeu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0" y="3319272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préparées exportées en clustering.csv — livrable « fichier d'entraînement » demandé par le sujet.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480560"/>
            <a:ext cx="11247120" cy="123444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" y="45720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Deux limites assumées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31520" y="49377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19 % de NA sur « % flotte électrique » imputés par la médiane (variable à interpréter avec prudence).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conserve les valeurs extrêmes légitimes (méga-districts comme NYC, LA) : ce ne sont pas des erreurs mais un vrai segment « très grands districts ».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2 : Segmentation des districts (K-means)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4a.  Choix du nombre de clusters 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critères complémentaires pour choisir K : la méthode du coude (inertie) et le score de silhouette.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554480"/>
          <a:ext cx="5760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309360" y="1554480"/>
          <a:ext cx="5760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5257800"/>
            <a:ext cx="11430000" cy="114300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Lecture des deux critères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48640" y="57150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Coude :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décroissance de l'inertie ralentit nettement après K = 4 (le « coude »).   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: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atteint à K = 4 (0,327). 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critères convergent vers K = 4. Affiné ensuite par grille K × init (14 combinaisons), puis validé par l'interprétation des profils.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2 : Segmentation des districts (K-means)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4b.  K=3 vs K=4 : comparaison des profils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directe des profils obtenus avec K=3 et K=4 (z-scores : positif = au-dessus de la moyenne).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 = 3   ·   silhouette = 0,294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56692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777240"/>
                <a:gridCol w="32461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Caractéristique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Défavorisés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Forte pauvreté / repas gratuits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Aisés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 pauvreté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grands districts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 élèves très élevé (+6,8σ)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0" y="15087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 = 4   ·   silhouette = 0,327</a:t>
            </a:r>
            <a:endParaRPr lang="en-US" sz="14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874520"/>
          <a:ext cx="56692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777240"/>
                <a:gridCol w="32461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Caractéristique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9A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Pionniers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Forte électrification (+2,35σ)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Aisés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 pauvreté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Défavorisés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Forte pauvreté / repas gratuits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grands districts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 élèves très élevé (+6,8σ)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4434840"/>
            <a:ext cx="11612880" cy="196596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85800" y="45262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 = 4 retenu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85800" y="4937760"/>
            <a:ext cx="11155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Meilleure silhouette :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0,327 contre 0,294 pour K=3.    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profils distincts et exploitables :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K=4 isole un segment « Pionniers » (165 districts à forte électrification) que K=3 fusionnait avec les Défavorisés.</a:t>
            </a:r>
            <a:endParaRPr lang="en-US" sz="1250" dirty="0"/>
          </a:p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C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clé du nettoyage :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correction des valeurs aberrantes (% électrique &gt; 100 %), K=4 créait un cluster d'un seul district — inutile. Après plafonnement à 100 %, ce 4ᵉ segment devient un vrai groupe commercial pertinent.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2 : Segmentation des districts (K-means)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4c.  Comparaison avec un autre algorithme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de K-means à un autre algorithme de clustering : l'agglomératif avec critère de Ward.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91640"/>
          <a:ext cx="576072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57200" y="3703320"/>
          <a:ext cx="576072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6400800" y="1691640"/>
            <a:ext cx="53035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62940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L'algorithme agglomératif en bref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675120" y="2194560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district démarre seul (1524 clusters).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étape, on fusionne les 2 clusters les plus proches.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répète jusqu'à obtenir le nombre voulu (ici K = 4).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de Ward = minimise la variance interne (analogue de K-means).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400800" y="3703320"/>
            <a:ext cx="5303520" cy="192024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629400" y="3794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629400" y="416052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bat l'agglomératif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les deux métriques (silhouette et Davies-Bouldin).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algorithmes retrouvent la même structure en 4 groupes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la segmentation est robuste, ce n'est pas un artefact d'une méthode.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14" name="Text 10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2 : Segmentation des districts (K-means)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 Modèle final retenu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6576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3657600" cy="91440"/>
          </a:xfrm>
          <a:prstGeom prst="rect">
            <a:avLst/>
          </a:prstGeom>
          <a:solidFill>
            <a:srgbClr val="147A7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47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 = 4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retenus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61688" y="1234440"/>
            <a:ext cx="36576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61688" y="1234440"/>
            <a:ext cx="3657600" cy="9144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10" name="Text 8"/>
          <p:cNvSpPr/>
          <p:nvPr/>
        </p:nvSpPr>
        <p:spPr>
          <a:xfrm>
            <a:off x="4361688" y="14173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6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0,327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361688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globale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66176" y="1234440"/>
            <a:ext cx="36576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66176" y="1234440"/>
            <a:ext cx="3657600" cy="91440"/>
          </a:xfrm>
          <a:prstGeom prst="rect">
            <a:avLst/>
          </a:prstGeom>
          <a:solidFill>
            <a:srgbClr val="C8872E"/>
          </a:solidFill>
          <a:ln/>
        </p:spPr>
      </p:sp>
      <p:sp>
        <p:nvSpPr>
          <p:cNvPr id="14" name="Text 12"/>
          <p:cNvSpPr/>
          <p:nvPr/>
        </p:nvSpPr>
        <p:spPr>
          <a:xfrm>
            <a:off x="8266176" y="14173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88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266176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métier actionnables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1124712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30175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4 segments et leur ciblage commercial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85800" y="3520440"/>
            <a:ext cx="164592" cy="164592"/>
          </a:xfrm>
          <a:prstGeom prst="ellipse">
            <a:avLst/>
          </a:prstGeom>
          <a:solidFill>
            <a:srgbClr val="1C9A8E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3474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Pionniers : </a:t>
            </a:r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proposer l'extension de flotte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3640" y="3520440"/>
            <a:ext cx="164592" cy="164592"/>
          </a:xfrm>
          <a:prstGeom prst="ellipse">
            <a:avLst/>
          </a:prstGeom>
          <a:solidFill>
            <a:srgbClr val="C8872E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3474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Défavorisés : </a:t>
            </a:r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en avant les subventions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4142232"/>
            <a:ext cx="164592" cy="164592"/>
          </a:xfrm>
          <a:prstGeom prst="ellipse">
            <a:avLst/>
          </a:prstGeom>
          <a:solidFill>
            <a:srgbClr val="2E6E9E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40965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grands districts : </a:t>
            </a:r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offres de volume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4142232"/>
            <a:ext cx="164592" cy="164592"/>
          </a:xfrm>
          <a:prstGeom prst="ellipse">
            <a:avLst/>
          </a:prstGeom>
          <a:solidFill>
            <a:srgbClr val="5B6B7A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40965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Aisés : </a:t>
            </a:r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offres standard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4937760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E3EEF5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9377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:  </a:t>
            </a:r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PCA 2D (les 4 dimensions réduites à un plan) pour visualiser la séparation des segments.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2 : Segmentation des districts (K-means)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pistes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Démarche validée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+ correction des valeurs aberrantes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K par coude + silhouette + sens métier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à un autre algorithme (K-means validé)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segments commerciaux actionnables identifiés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09360" y="16459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Limites &amp; pistes (B206)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210312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modérée (~0.33) : groupes partiellement chevauchants (normal sur données réelles)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Enrichir avec d'autres variables (région, aides)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un clustering basé densité (DBSCAN, cf. TP5)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5120640"/>
            <a:ext cx="10698480" cy="1005840"/>
          </a:xfrm>
          <a:prstGeom prst="rect">
            <a:avLst/>
          </a:prstGeom>
          <a:solidFill>
            <a:srgbClr val="24496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512064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retenu : K-means, K = 4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= 0,327   ·   Davies-Bouldin = 0,94   ·   4 segments métier identifiés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2 — Clustering K-means</dc:title>
  <dc:subject>PptxGenJS Presentation</dc:subject>
  <dc:creator>Equipe ML II</dc:creator>
  <cp:lastModifiedBy>Equipe ML II</cp:lastModifiedBy>
  <cp:revision>1</cp:revision>
  <dcterms:created xsi:type="dcterms:W3CDTF">2026-05-27T13:40:14Z</dcterms:created>
  <dcterms:modified xsi:type="dcterms:W3CDTF">2026-05-27T13:40:14Z</dcterms:modified>
</cp:coreProperties>
</file>