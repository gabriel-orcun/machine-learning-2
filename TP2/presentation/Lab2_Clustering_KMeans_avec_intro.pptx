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Méthode du coude — inertie selon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Inertie</c:v>
                </c:pt>
              </c:strCache>
            </c:strRef>
          </c:tx>
          <c:spPr>
            <a:solidFill>
              <a:srgbClr val="2E6E9E"/>
            </a:solidFill>
            <a:ln w="38100" cap="flat">
              <a:solidFill>
                <a:srgbClr val="2E6E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E9E"/>
              </a:solidFill>
              <a:ln w="9525" cap="flat">
                <a:solidFill>
                  <a:srgbClr val="2E6E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4622</c:v>
                </c:pt>
                <c:pt idx="1">
                  <c:v>3632</c:v>
                </c:pt>
                <c:pt idx="2">
                  <c:v>2731</c:v>
                </c:pt>
                <c:pt idx="3">
                  <c:v>2280</c:v>
                </c:pt>
                <c:pt idx="4">
                  <c:v>2011</c:v>
                </c:pt>
                <c:pt idx="5">
                  <c:v>1796</c:v>
                </c:pt>
                <c:pt idx="6">
                  <c:v>1632</c:v>
                </c:pt>
                <c:pt idx="7">
                  <c:v>1477</c:v>
                </c:pt>
                <c:pt idx="8">
                  <c:v>1362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Silhouette selon K — maximum à K = 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1C9A8E"/>
            </a:solidFill>
            <a:ln w="38100" cap="flat">
              <a:solidFill>
                <a:srgbClr val="1C9A8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9A8E"/>
              </a:solidFill>
              <a:ln w="9525" cap="flat">
                <a:solidFill>
                  <a:srgbClr val="1C9A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0.279</c:v>
                </c:pt>
                <c:pt idx="1">
                  <c:v>0.294</c:v>
                </c:pt>
                <c:pt idx="2">
                  <c:v>0.327</c:v>
                </c:pt>
                <c:pt idx="3">
                  <c:v>0.292</c:v>
                </c:pt>
                <c:pt idx="4">
                  <c:v>0.297</c:v>
                </c:pt>
                <c:pt idx="5">
                  <c:v>0.307</c:v>
                </c:pt>
                <c:pt idx="6">
                  <c:v>0.269</c:v>
                </c:pt>
                <c:pt idx="7">
                  <c:v>0.281</c:v>
                </c:pt>
                <c:pt idx="8">
                  <c:v>0.286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4"/>
          <c:min val="0.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B3A5B"/>
                </a:solidFill>
                <a:latin typeface="Georgia"/>
              </a:rPr>
              <a:t>Silhouette (K=4) — K-means devant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(↑ mieux)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K-means</c:v>
                  </c:pt>
                  <c:pt idx="1">
                    <c:v>Agglomératif (Ward)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0.327</c:v>
                </c:pt>
                <c:pt idx="1">
                  <c:v>0.302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B3A5B"/>
                </a:solidFill>
                <a:latin typeface="Georgia"/>
              </a:rPr>
              <a:t>Davies-Bouldin (K=4) — K-means devant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Davies-Bouldin (↓ mieux)</c:v>
                </c:pt>
              </c:strCache>
            </c:strRef>
          </c:tx>
          <c:spPr>
            <a:solidFill>
              <a:srgbClr val="1C9A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9A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9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K-means</c:v>
                  </c:pt>
                  <c:pt idx="1">
                    <c:v>Agglomératif (Ward)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0.943</c:v>
                </c:pt>
                <c:pt idx="1">
                  <c:v>0.982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— Segmentation des districts par K-means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profils-types de districts engagés pour cibler une démarche commerciale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2062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206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206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non supervisée —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Identifier des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(segments) de districts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parmi ceux déjà engagés dans les bus électriques, afin de mieux cibler une démarche commerciale / publicitaire.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Décideur visé : société de vente de bus électriques.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Existe-t-il des profils-types de districts engagés, vers lesquels adapter un discours commercial distinct ?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486400" cy="17373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78308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non supervisé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« bonne réponse » à prédire : on cherche une structure cachée dans les données (tâche descriptive).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4864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variables socio-économiques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d'élèves (taille)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repas gratuits (précarité scolaire)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pauvreté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Exploitation commerciale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segment appelle un discours distinct (extension de flotte, mise en avant des subventions, offres de volume…).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1 524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 (committed = yes)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61688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retenues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66176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détectées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71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valeurs aberrantes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 variable « % flotte électrique » contenait des valeurs &gt; 100 % (jusqu'à 2300 % !).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erreurs de données. K-means étant très sensible aux valeurs extrêmes, elles fausseraient totalement le clustering. → Elles seront plafonnées à 100 % lors de la préparation.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11247120" cy="1325880"/>
          </a:xfrm>
          <a:prstGeom prst="rect">
            <a:avLst/>
          </a:prstGeom>
          <a:solidFill>
            <a:srgbClr val="E3EEF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26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menée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valeurs manquantes par variable (jusqu'à 19 % sur « % flotte électrique »), statistiques descriptives, et histogrammes des 4 variables — qui ont révélé les valeurs extrêmes ci-dessus.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807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des aberrants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% flotte électrique » plafonné à 100 %. K-means minimise des distances au carré → un point aberrant accaparerait un cluster entier.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49047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807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 (médiane)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64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remplacées par la médiane, robuste aux valeurs extrêmes (contrairement à la moyenne).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04495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35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192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: indispensable car K-means repose sur des distances. Sans elle, « Nb élèves » (milliers) écraserait les % (0–1).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788920"/>
            <a:ext cx="5577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044952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35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du jeu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1927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préparées exportées en clustering.csv — livrable « fichier d'entraînement » demandé par le sujet.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47120" cy="12344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limites assumées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19 % de NA sur « % flotte électrique » imputés par la médiane (variable à interpréter avec prudence).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conserve les valeurs extrêmes légitimes (méga-districts comme NYC, LA) : ce ne sont pas des erreurs mais un vrai segment « très grands districts ».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Choix du nombre de clusters 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critères complémentaires pour choisir K : la méthode du coude (inertie) et le score de silhouette.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54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55448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5257800"/>
            <a:ext cx="11430000" cy="11430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des deux critères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Coude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 décroissance de l'inertie ralentit nettement après K = 4 (le « coude »).   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Silhouette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maximum atteint à K = 4 (0,327).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critères convergent vers K = 4. Affiné ensuite par grille K × init (14 combinaisons), puis validé par l'interprétation des profils.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K=3 vs K=4 : comparaison des profils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directe des profils obtenus avec K=3 et K=4 (z-scores : positif = au-dessus de la moyenne).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3   ·   silhouette = 0,294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3246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Caractéristique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Défavorisés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pauvreté / repas gratuits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pauvreté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grands districts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élèves très élevé (+6,8σ)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508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  ·   silhouette = 0,327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3246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Caractéristique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Pionniers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électrification (+2,35σ)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pauvreté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Défavorisés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pauvreté / repas gratuits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grands districts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élèves très élevé (+6,8σ)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434840"/>
            <a:ext cx="11612880" cy="19659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4526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 retenu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5800" y="4937760"/>
            <a:ext cx="11155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Meilleure silhouette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0,327 contre 0,294 pour K=3.   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 profils distincts et exploitables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isole un segment « Pionniers » (165 districts à forte électrification) que K=3 fusionnait avec les Défavorisés.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Rôle clé du nettoyage 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correction des valeurs aberrantes (% électrique &gt; 100 %), K=4 créait un cluster d'un seul district — inutile. Après plafonnement à 100 %, ce 4ᵉ segment devient un vrai groupe commercial pertinent.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Comparaison avec un autre algorithme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K-means à un autre algorithme de clustering : l'agglomératif avec critère de Ward.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760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" y="3703320"/>
          <a:ext cx="5760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691640"/>
            <a:ext cx="5303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294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L'algorithme agglomératif en bref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75120" y="219456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démarre seul (1524 clusters).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étape, on fusionne les 2 clusters les plus proches.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répète jusqu'à obtenir le nombre voulu (ici K = 4).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de Ward = minimise la variance interne (analogue de K-means).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0" y="3703320"/>
            <a:ext cx="5303520" cy="1920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629400" y="41605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bat l'agglomératif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sur les deux métriques (silhouette et Davies-Bouldin).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retrouvent la même structure en 4 groupes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la segmentation est robuste, ce n'est pas un artefact d'une méthode.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Modèle final retenu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= 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retenus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23444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0,327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361688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globale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66176" y="123444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23444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417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66176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métier actionnables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12471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017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segments et leur ciblage commercial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3520440"/>
            <a:ext cx="164592" cy="164592"/>
          </a:xfrm>
          <a:prstGeom prst="ellipse">
            <a:avLst/>
          </a:prstGeom>
          <a:solidFill>
            <a:srgbClr val="1C9A8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Pionniers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l'extension de flotte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520440"/>
            <a:ext cx="164592" cy="164592"/>
          </a:xfrm>
          <a:prstGeom prst="ellipse">
            <a:avLst/>
          </a:prstGeom>
          <a:solidFill>
            <a:srgbClr val="C88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Défavorisés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avant les subventions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142232"/>
            <a:ext cx="164592" cy="164592"/>
          </a:xfrm>
          <a:prstGeom prst="ellipse">
            <a:avLst/>
          </a:prstGeom>
          <a:solidFill>
            <a:srgbClr val="2E6E9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096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Très grands districts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de volume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142232"/>
            <a:ext cx="164592" cy="164592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096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Aisés : 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3EEF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9377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Visualisation :  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PCA 2D (les 4 dimensions réduites à un plan) pour visualiser la séparation des segments.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2 : Segmentation des districts (K-means)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+ correction des valeurs aberrantes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 par coude + silhouette + sens métier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un autre algorithme (K-means validé)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commerciaux actionnables identifiés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modérée (~0.33) : groupes partiellement chevauchants (normal sur données réelles)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avec d'autres variables (région, aides)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 clustering basé densité (DBSCAN, cf. TP5)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449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K-means, K = 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0,327   ·   Davies-Bouldin = 0,94   ·   4 segments métier identifiés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Introduction — Contexte du projet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Band0"/>
          <p:cNvSpPr/>
          <p:nvPr/>
        </p:nvSpPr>
        <p:spPr>
          <a:xfrm>
            <a:off x="457200" y="1188720"/>
            <a:ext cx="3291840" cy="6400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Val0"/>
          <p:cNvSpPr/>
          <p:nvPr/>
        </p:nvSpPr>
        <p:spPr>
          <a:xfrm>
            <a:off x="45720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C9A8E"/>
                </a:solidFill>
                <a:latin typeface="Georgia" pitchFamily="34" charset="0"/>
              </a:rPr>
              <a:t>26 M</a:t>
            </a:r>
            <a:endParaRPr lang="fr-FR" sz="1400" dirty="0"/>
          </a:p>
        </p:txBody>
      </p:sp>
      <p:sp>
        <p:nvSpPr>
          <p:cNvPr id="23" name="Lbl0"/>
          <p:cNvSpPr/>
          <p:nvPr/>
        </p:nvSpPr>
        <p:spPr>
          <a:xfrm>
            <a:off x="45720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élèves américains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prennent le bus scolaire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chaque matin</a:t>
            </a:r>
            <a:endParaRPr lang="fr-FR" sz="1400" dirty="0"/>
          </a:p>
        </p:txBody>
      </p:sp>
      <p:sp>
        <p:nvSpPr>
          <p:cNvPr id="24" name="Card24"/>
          <p:cNvSpPr/>
          <p:nvPr/>
        </p:nvSpPr>
        <p:spPr>
          <a:xfrm>
            <a:off x="406908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Band1"/>
          <p:cNvSpPr/>
          <p:nvPr/>
        </p:nvSpPr>
        <p:spPr>
          <a:xfrm>
            <a:off x="4069080" y="1188720"/>
            <a:ext cx="3291840" cy="6400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6" name="Val1"/>
          <p:cNvSpPr/>
          <p:nvPr/>
        </p:nvSpPr>
        <p:spPr>
          <a:xfrm>
            <a:off x="406908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2E6E9E"/>
                </a:solidFill>
                <a:latin typeface="Georgia" pitchFamily="34" charset="0"/>
              </a:rPr>
              <a:t>480 000</a:t>
            </a:r>
            <a:endParaRPr lang="fr-FR" sz="1400" dirty="0"/>
          </a:p>
        </p:txBody>
      </p:sp>
      <p:sp>
        <p:nvSpPr>
          <p:cNvPr id="27" name="Lbl1"/>
          <p:cNvSpPr/>
          <p:nvPr/>
        </p:nvSpPr>
        <p:spPr>
          <a:xfrm>
            <a:off x="406908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bus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en circulation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(majoritairement diesel)</a:t>
            </a:r>
            <a:endParaRPr lang="fr-FR" sz="1400" dirty="0"/>
          </a:p>
        </p:txBody>
      </p:sp>
      <p:sp>
        <p:nvSpPr>
          <p:cNvPr id="28" name="Card28"/>
          <p:cNvSpPr/>
          <p:nvPr/>
        </p:nvSpPr>
        <p:spPr>
          <a:xfrm>
            <a:off x="7680960" y="118872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Band2"/>
          <p:cNvSpPr/>
          <p:nvPr/>
        </p:nvSpPr>
        <p:spPr>
          <a:xfrm>
            <a:off x="7680960" y="1188720"/>
            <a:ext cx="3291840" cy="64008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Val2"/>
          <p:cNvSpPr/>
          <p:nvPr/>
        </p:nvSpPr>
        <p:spPr>
          <a:xfrm>
            <a:off x="76809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" indent="0" marL="0">
              <a:buNone/>
            </a:pPr>
            <a:r>
              <a:rPr lang="fr-FR" sz="3200" b="1" dirty="0">
                <a:solidFill>
                  <a:srgbClr val="1B3A5B"/>
                </a:solidFill>
                <a:latin typeface="Georgia" pitchFamily="34" charset="0"/>
              </a:rPr>
              <a:t>19 516</a:t>
            </a:r>
            <a:endParaRPr lang="fr-FR" sz="1400" dirty="0"/>
          </a:p>
        </p:txBody>
      </p:sp>
      <p:sp>
        <p:nvSpPr>
          <p:cNvPr id="31" name="Lbl2"/>
          <p:cNvSpPr/>
          <p:nvPr/>
        </p:nvSpPr>
        <p:spPr>
          <a:xfrm>
            <a:off x="7680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districts scolaires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recensés dans</a:t>
            </a:r>
            <a:endParaRPr lang="fr-FR" sz="1400" dirty="0"/>
          </a:p>
          <a:p>
            <a:pPr algn="c" indent="0" marL="0">
              <a:buNone/>
            </a:pPr>
            <a:r>
              <a:rPr lang="fr-FR" sz="1050" dirty="0">
                <a:solidFill>
                  <a:srgbClr val="5B6B7A"/>
                </a:solidFill>
                <a:latin typeface="Calibri" pitchFamily="34" charset="0"/>
              </a:rPr>
              <a:t>le dataset WRI</a:t>
            </a:r>
            <a:endParaRPr lang="fr-FR" sz="1400" dirty="0"/>
          </a:p>
        </p:txBody>
      </p:sp>
      <p:sp>
        <p:nvSpPr>
          <p:cNvPr id="40" name="Card40"/>
          <p:cNvSpPr/>
          <p:nvPr/>
        </p:nvSpPr>
        <p:spPr>
          <a:xfrm>
            <a:off x="457200" y="2788920"/>
            <a:ext cx="64008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NBar"/>
          <p:cNvSpPr/>
          <p:nvPr/>
        </p:nvSpPr>
        <p:spPr>
          <a:xfrm>
            <a:off x="457200" y="2788920"/>
            <a:ext cx="109728" cy="23317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2" name="Narr"/>
          <p:cNvSpPr/>
          <p:nvPr/>
        </p:nvSpPr>
        <p:spPr>
          <a:xfrm>
            <a:off x="713232" y="2880360"/>
            <a:ext cx="603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Ces bus circulent souvent dans les quartiers les plus exposés à la pollution — </a:t>
            </a:r>
            <a:r>
              <a:rPr lang="fr-FR" sz="1300" b="1" dirty="0">
                <a:solidFill>
                  <a:srgbClr val="1B3A5B"/>
                </a:solidFill>
                <a:latin typeface="Calibri" pitchFamily="34" charset="0"/>
              </a:rPr>
              <a:t>une question d'équité autant que de santé publique.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>Depuis quelques années, des programmes fédéraux et des subventions accélèrent la transition électrique. Mais sur 19 516 districts, la grande majorité n'a pas encore franchi le pas.</a:t>
            </a:r>
            <a:endParaRPr lang="fr-FR" sz="1400" dirty="0"/>
          </a:p>
          <a:p>
            <a:pPr algn="l" indent="0" marL="0">
              <a:buNone/>
            </a:pPr>
            <a:r>
              <a:rPr lang="fr-FR" sz="8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Notre projet : utiliser le </a:t>
            </a:r>
            <a:r>
              <a:rPr lang="fr-FR" sz="1300" b="1" dirty="0">
                <a:solidFill>
                  <a:srgbClr val="1C9A8E"/>
                </a:solidFill>
                <a:latin typeface="Calibri" pitchFamily="34" charset="0"/>
              </a:rPr>
              <a:t>machine learning</a:t>
            </a:r>
            <a:r>
              <a:rPr lang="fr-FR" sz="1300" dirty="0">
                <a:solidFill>
                  <a:srgbClr val="1E2A36"/>
                </a:solidFill>
                <a:latin typeface="Calibri" pitchFamily="34" charset="0"/>
              </a:rPr>
              <a:t xml:space="preserve"> pour comprendre, anticiper et accélérer cette transition.</a:t>
            </a:r>
            <a:endParaRPr lang="fr-FR" sz="1400" dirty="0"/>
          </a:p>
        </p:txBody>
      </p:sp>
      <p:sp>
        <p:nvSpPr>
          <p:cNvPr id="43" name="Card43"/>
          <p:cNvSpPr/>
          <p:nvPr/>
        </p:nvSpPr>
        <p:spPr>
          <a:xfrm>
            <a:off x="7132320" y="2788920"/>
            <a:ext cx="4297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rc"/>
          <p:cNvSpPr/>
          <p:nvPr/>
        </p:nvSpPr>
        <p:spPr>
          <a:xfrm>
            <a:off x="7360920" y="288036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Georgia" pitchFamily="34" charset="0"/>
              </a:rPr>
              <a:t>Source de données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50" i="1" dirty="0">
                <a:solidFill>
                  <a:srgbClr val="1C9A8E"/>
                </a:solidFill>
                <a:latin typeface="Calibri" pitchFamily="34" charset="0"/>
              </a:rPr>
              <a:t>Dataset of U.S. Electric School Bus Adoption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5B6B7A"/>
                </a:solidFill>
                <a:latin typeface="Calibri" pitchFamily="34" charset="0"/>
              </a:rPr>
              <a:t>World Resources Institute / ESB Initiative</a:t>
            </a:r>
            <a:endParaRPr lang="fr-FR" sz="1400" dirty="0"/>
          </a:p>
          <a:p>
            <a:pPr algn="l" indent="0" marL="0">
              <a:buNone/>
            </a:pPr>
            <a:r>
              <a:rPr lang="fr-FR" sz="600" dirty="0">
                <a:solidFill>
                  <a:srgbClr val="1E2A36"/>
                </a:solidFill>
                <a:latin typeface="Calibri" pitchFamily="34" charset="0"/>
              </a:rPr>
              <a:t xml:space="preserve"> 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Feuille « District-level data »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Chaque ligne = un district scolaire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91 colonnes — socio-économiques,</a:t>
            </a:r>
            <a:endParaRPr lang="fr-FR" sz="1400" dirty="0"/>
          </a:p>
          <a:p>
            <a:pPr algn="l" indent="0" marL="0">
              <a:buNone/>
            </a:pPr>
            <a:r>
              <a:rPr lang="fr-FR" sz="1100" dirty="0">
                <a:solidFill>
                  <a:srgbClr val="1E2A36"/>
                </a:solidFill>
                <a:latin typeface="Calibri" pitchFamily="34" charset="0"/>
              </a:rPr>
              <a:t>environnementales, géographiques</a:t>
            </a:r>
            <a:endParaRPr lang="fr-FR" sz="1400" dirty="0"/>
          </a:p>
        </p:txBody>
      </p:sp>
      <p:sp>
        <p:nvSpPr>
          <p:cNvPr id="50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1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2 : Segmentation des districts (K-means)</a:t>
            </a:r>
            <a:endParaRPr lang="fr-FR" sz="1400" dirty="0"/>
          </a:p>
        </p:txBody>
      </p:sp>
      <p:sp>
        <p:nvSpPr>
          <p:cNvPr id="52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Bar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itle"/>
          <p:cNvSpPr/>
          <p:nvPr/>
        </p:nvSpPr>
        <p:spPr>
          <a:xfrm>
            <a:off x="68580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3000" b="1" dirty="0">
                <a:solidFill>
                  <a:srgbClr val="1B3A5B"/>
                </a:solidFill>
                <a:latin typeface="Georgia" pitchFamily="34" charset="0"/>
              </a:rPr>
              <a:t>1.  Compréhension du problème métier</a:t>
            </a:r>
            <a:endParaRPr lang="fr-FR" sz="1400" dirty="0"/>
          </a:p>
        </p:txBody>
      </p:sp>
      <p:sp>
        <p:nvSpPr>
          <p:cNvPr id="4" name="Sub"/>
          <p:cNvSpPr/>
          <p:nvPr/>
        </p:nvSpPr>
        <p:spPr>
          <a:xfrm>
            <a:off x="68580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100" i="1" dirty="0">
                <a:solidFill>
                  <a:srgbClr val="5B6B7A"/>
                </a:solidFill>
                <a:latin typeface="Calibri" pitchFamily="34" charset="0"/>
              </a:rPr>
              <a:t>Ce TP — Segmentation par K-means (non supervisé)</a:t>
            </a:r>
            <a:endParaRPr lang="fr-FR" sz="1400" dirty="0"/>
          </a:p>
        </p:txBody>
      </p:sp>
      <p:sp>
        <p:nvSpPr>
          <p:cNvPr id="10" name="QBox"/>
          <p:cNvSpPr/>
          <p:nvPr/>
        </p:nvSpPr>
        <p:spPr>
          <a:xfrm>
            <a:off x="457200" y="1417320"/>
            <a:ext cx="10698480" cy="7772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QTxt"/>
          <p:cNvSpPr/>
          <p:nvPr/>
        </p:nvSpPr>
        <p:spPr>
          <a:xfrm>
            <a:off x="685800" y="1417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500" b="1" i="1" dirty="0">
                <a:solidFill>
                  <a:srgbClr val="FFFFFF"/>
                </a:solidFill>
                <a:latin typeface="Calibri" pitchFamily="34" charset="0"/>
              </a:rPr>
              <a:t>« Existe-t-il des profils-types de districts engagés, vers lesquels adapter un discours commercial distinct ? »</a:t>
            </a:r>
            <a:endParaRPr lang="fr-FR" sz="1400" dirty="0"/>
          </a:p>
        </p:txBody>
      </p:sp>
      <p:sp>
        <p:nvSpPr>
          <p:cNvPr id="20" name="Card20"/>
          <p:cNvSpPr/>
          <p:nvPr/>
        </p:nvSpPr>
        <p:spPr>
          <a:xfrm>
            <a:off x="45720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CBar0"/>
          <p:cNvSpPr/>
          <p:nvPr/>
        </p:nvSpPr>
        <p:spPr>
          <a:xfrm>
            <a:off x="457200" y="2377440"/>
            <a:ext cx="109728" cy="23774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22" name="CTitle0"/>
          <p:cNvSpPr/>
          <p:nvPr/>
        </p:nvSpPr>
        <p:spPr>
          <a:xfrm>
            <a:off x="65836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Objectif business</a:t>
            </a:r>
            <a:endParaRPr lang="fr-FR" sz="1400" dirty="0"/>
          </a:p>
        </p:txBody>
      </p:sp>
      <p:sp>
        <p:nvSpPr>
          <p:cNvPr id="23" name="CBody0"/>
          <p:cNvSpPr/>
          <p:nvPr/>
        </p:nvSpPr>
        <p:spPr>
          <a:xfrm>
            <a:off x="65836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Identifier des groupes naturels parmi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les 1 524 districts déjà engagés,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pour adapter la démarche commerciale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à chaque profil de district.</a:t>
            </a:r>
            <a:endParaRPr lang="fr-FR" sz="1400" dirty="0"/>
          </a:p>
        </p:txBody>
      </p:sp>
      <p:sp>
        <p:nvSpPr>
          <p:cNvPr id="25" name="Card25"/>
          <p:cNvSpPr/>
          <p:nvPr/>
        </p:nvSpPr>
        <p:spPr>
          <a:xfrm>
            <a:off x="406908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CBar1"/>
          <p:cNvSpPr/>
          <p:nvPr/>
        </p:nvSpPr>
        <p:spPr>
          <a:xfrm>
            <a:off x="4069080" y="2377440"/>
            <a:ext cx="109728" cy="2377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7" name="CTitle1"/>
          <p:cNvSpPr/>
          <p:nvPr/>
        </p:nvSpPr>
        <p:spPr>
          <a:xfrm>
            <a:off x="427024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Type de tâche</a:t>
            </a:r>
            <a:endParaRPr lang="fr-FR" sz="1400" dirty="0"/>
          </a:p>
        </p:txBody>
      </p:sp>
      <p:sp>
        <p:nvSpPr>
          <p:cNvPr id="28" name="CBody1"/>
          <p:cNvSpPr/>
          <p:nvPr/>
        </p:nvSpPr>
        <p:spPr>
          <a:xfrm>
            <a:off x="427024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Clustering — non supervisé, descriptif.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Pas de variable cible à prédire.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On cherche une structure cachée.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Modèle : K-means (4 variables socio-éco).</a:t>
            </a:r>
            <a:endParaRPr lang="fr-FR" sz="1400" dirty="0"/>
          </a:p>
        </p:txBody>
      </p:sp>
      <p:sp>
        <p:nvSpPr>
          <p:cNvPr id="30" name="Card30"/>
          <p:cNvSpPr/>
          <p:nvPr/>
        </p:nvSpPr>
        <p:spPr>
          <a:xfrm>
            <a:off x="7680960" y="2377440"/>
            <a:ext cx="32918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CBar2"/>
          <p:cNvSpPr/>
          <p:nvPr/>
        </p:nvSpPr>
        <p:spPr>
          <a:xfrm>
            <a:off x="7680960" y="2377440"/>
            <a:ext cx="109728" cy="23774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2" name="CTitle2"/>
          <p:cNvSpPr/>
          <p:nvPr/>
        </p:nvSpPr>
        <p:spPr>
          <a:xfrm>
            <a:off x="7882128" y="248716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350" b="1" dirty="0">
                <a:solidFill>
                  <a:srgbClr val="1B3A5B"/>
                </a:solidFill>
                <a:latin typeface="Georgia" pitchFamily="34" charset="0"/>
              </a:rPr>
              <a:t>Intérêt métier</a:t>
            </a:r>
            <a:endParaRPr lang="fr-FR" sz="1400" dirty="0"/>
          </a:p>
        </p:txBody>
      </p:sp>
      <p:sp>
        <p:nvSpPr>
          <p:cNvPr id="33" name="CBody2"/>
          <p:cNvSpPr/>
          <p:nvPr/>
        </p:nvSpPr>
        <p:spPr>
          <a:xfrm>
            <a:off x="7882128" y="2880360"/>
            <a:ext cx="3035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Chaque segment → discours distinct :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— Grand district : offre de volume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— District précaire : mise en avant des aides</a:t>
            </a:r>
            <a:endParaRPr lang="fr-FR" sz="1400" dirty="0"/>
          </a:p>
          <a:p>
            <a:pPr algn="l" indent="0" marL="0">
              <a:buNone/>
            </a:pPr>
            <a:r>
              <a:rPr lang="fr-FR" sz="1150" dirty="0">
                <a:solidFill>
                  <a:srgbClr val="1E2A36"/>
                </a:solidFill>
                <a:latin typeface="Calibri" pitchFamily="34" charset="0"/>
              </a:rPr>
              <a:t>— Peu électrifié : accompagnement démarrage</a:t>
            </a:r>
            <a:endParaRPr lang="fr-FR" sz="1400" dirty="0"/>
          </a:p>
        </p:txBody>
      </p:sp>
      <p:sp>
        <p:nvSpPr>
          <p:cNvPr id="50" name="RCard50"/>
          <p:cNvSpPr/>
          <p:nvPr/>
        </p:nvSpPr>
        <p:spPr>
          <a:xfrm>
            <a:off x="457200" y="4892040"/>
            <a:ext cx="10698480" cy="59436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51" name="Note"/>
          <p:cNvSpPr/>
          <p:nvPr/>
        </p:nvSpPr>
        <p:spPr>
          <a:xfrm>
            <a:off x="640080" y="48920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1200" b="1" dirty="0">
                <a:solidFill>
                  <a:srgbClr val="1B3A5B"/>
                </a:solidFill>
                <a:latin typeface="Calibri" pitchFamily="34" charset="0"/>
              </a:rPr>
              <a:t xml:space="preserve">Données : </a:t>
            </a:r>
            <a:r>
              <a:rPr lang="fr-FR" sz="1200" dirty="0">
                <a:solidFill>
                  <a:srgbClr val="1E2A36"/>
                </a:solidFill>
                <a:latin typeface="Calibri" pitchFamily="34" charset="0"/>
              </a:rPr>
              <a:t>1 524 districts engagés — 4 variables : % flotte électrique, nb élèves, % repas gratuits, % pauvreté.</a:t>
            </a:r>
            <a:endParaRPr lang="fr-FR" sz="1400" dirty="0"/>
          </a:p>
        </p:txBody>
      </p:sp>
      <p:sp>
        <p:nvSpPr>
          <p:cNvPr id="55" name="FooterBar"/>
          <p:cNvSpPr/>
          <p:nvPr/>
        </p:nvSpPr>
        <p:spPr>
          <a:xfrm>
            <a:off x="0" y="5934456"/>
            <a:ext cx="1219200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56" name="FooterL"/>
          <p:cNvSpPr/>
          <p:nvPr/>
        </p:nvSpPr>
        <p:spPr>
          <a:xfrm>
            <a:off x="457200" y="5934456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Machine Learning II (ADIF84) — Lab 2 : Segmentation des districts (K-means)</a:t>
            </a:r>
            <a:endParaRPr lang="fr-FR" sz="1400" dirty="0"/>
          </a:p>
        </p:txBody>
      </p:sp>
      <p:sp>
        <p:nvSpPr>
          <p:cNvPr id="57" name="FooterR"/>
          <p:cNvSpPr/>
          <p:nvPr/>
        </p:nvSpPr>
        <p:spPr>
          <a:xfrm>
            <a:off x="10972800" y="5934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r-FR" sz="900" dirty="0">
                <a:solidFill>
                  <a:srgbClr val="CADCFC"/>
                </a:solidFill>
                <a:latin typeface="Calibri" pitchFamily="34" charset="0"/>
              </a:rPr>
              <a:t>—</a:t>
            </a:r>
            <a:endParaRPr lang="fr-F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— Clustering K-means</dc:title>
  <dc:subject>PptxGenJS Presentation</dc:subject>
  <dc:creator>Equipe ML II</dc:creator>
  <cp:lastModifiedBy>Equipe ML II</cp:lastModifiedBy>
  <cp:revision>1</cp:revision>
  <dcterms:created xsi:type="dcterms:W3CDTF">2026-05-27T13:40:14Z</dcterms:created>
  <dcterms:modified xsi:type="dcterms:W3CDTF">2026-05-27T13:40:14Z</dcterms:modified>
</cp:coreProperties>
</file>