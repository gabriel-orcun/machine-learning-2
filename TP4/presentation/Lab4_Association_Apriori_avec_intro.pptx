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69" r:id="rId20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Top 10 attributs présents chez les districts engagés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des districts engagés</c:v>
                </c:pt>
              </c:strCache>
            </c:strRef>
          </c:tx>
          <c:spPr>
            <a:solidFill>
              <a:srgbClr val="147A7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large_district</c:v>
                  </c:pt>
                  <c:pt idx="1">
                    <c:v>high_need</c:v>
                  </c:pt>
                  <c:pt idx="2">
                    <c:v>operating</c:v>
                  </c:pt>
                  <c:pt idx="3">
                    <c:v>high_poverty</c:v>
                  </c:pt>
                  <c:pt idx="4">
                    <c:v>high_income</c:v>
                  </c:pt>
                  <c:pt idx="5">
                    <c:v>low_income</c:v>
                  </c:pt>
                  <c:pt idx="6">
                    <c:v>epa_2023</c:v>
                  </c:pt>
                  <c:pt idx="7">
                    <c:v>rural</c:v>
                  </c:pt>
                  <c:pt idx="8">
                    <c:v>pollution_burden</c:v>
                  </c:pt>
                  <c:pt idx="9">
                    <c:v>small_district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74.1</c:v>
                </c:pt>
                <c:pt idx="1">
                  <c:v>57.3</c:v>
                </c:pt>
                <c:pt idx="2">
                  <c:v>53.6</c:v>
                </c:pt>
                <c:pt idx="3">
                  <c:v>53.3</c:v>
                </c:pt>
                <c:pt idx="4">
                  <c:v>44.3</c:v>
                </c:pt>
                <c:pt idx="5">
                  <c:v>43.1</c:v>
                </c:pt>
                <c:pt idx="6">
                  <c:v>40.4</c:v>
                </c:pt>
                <c:pt idx="7">
                  <c:v>35.2</c:v>
                </c:pt>
                <c:pt idx="8">
                  <c:v>31.4</c:v>
                </c:pt>
                <c:pt idx="9">
                  <c:v>22.6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4 — Profils des districts engagés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d'associations à l'aide de l'algorithme Apriori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imposé par le sujet : Apriori — règles d'association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858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Identifier les </a:t>
            </a:r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combinaisons de caractéristiques fréquentes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chez les districts scolaires déjà engagés dans la transition électrique (statuts committed / operating / delivering).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Cela permet de dresser des </a:t>
            </a:r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profils-types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et de mieux comprendre quelles conditions favorisent l'adoption — utile pour orienter une démarche commerciale.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1188720"/>
            <a:ext cx="4114800" cy="36576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17373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Quelles combinaisons d'attributs (revenus, localisation, pauvreté, pollution…) retrouve-t-on le plus souvent chez les districts engagés ? 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383280"/>
            <a:ext cx="3703320" cy="1828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d'associations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 supervisée, descriptive — recherche d'itemsets fréquents).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Modèle imposé par le sujet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Apriori. L'algorithme et son fonctionnement seront détaillés dans la partie « Choix et réglage du modèle ».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19 517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scolaires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(transactions)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18872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61688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binaires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(items)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18872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66176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engagés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(1 559 sur 19 517)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926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13 attributs binaires (0 / 1), regroupés en 4 catégories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109728" cy="5486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ESB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committed · operating · delivering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3337560"/>
            <a:ext cx="109728" cy="5486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économique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high_income · low_income · high_poverty · high_need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977640"/>
            <a:ext cx="109728" cy="5486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urban · rural · large_district · small_district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3977640"/>
            <a:ext cx="109728" cy="54864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publique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epa_2023 · pollution_burden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11247120" cy="9601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9377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Spécificité du jeu de données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92 % de districts non-engagés vs 8 % engagés.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Apriori portera uniquement sur les 1 559 districts engagés pour révéler leurs profils. La densité passe de 28 % (tous) à 45 % (engagés), avec 5,8 attributs moyens par district engagé contre 3,5 sinon.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garde que les districts engagés (committed = 1 OU operating = 1 OU delivering = 1) → 1 559 transactions à analyser.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des transactions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district = 1 transaction. Chaque attribut à 1 = 1 item dans la transaction. Ex : {committed, urban, high_income, large_district}.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Encodage one-hot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TransactionEncoder convertit la liste de transactions en matrice booléenne 1 559 × 13, format attendu par Apriori.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des seuils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5 % et min_confidence = 40 %. Compromis quantité / qualité — détaillé à la slide 4d.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E3EEF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817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Livrable de cette étape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 jeu d'entraînement </a:t>
            </a:r>
            <a:pPr indent="0" marL="0">
              <a:buNone/>
            </a:pPr>
            <a:r>
              <a:rPr lang="en-US" sz="125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apriori_data_simplified.csv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(19 517 districts × 13 attributs binaires) — c'est le « fichier des données d'entraînement » demandé par le sujet, déjà encodé en format transactionnel.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L'algorithme Apriori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est l'algorithme de référence pour la découverte d'itemsets fréquents dans des données transactionnelles.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: recherche itérative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Lister tous les items individuels apparaissant dans ≥ min_support des transactions (itemsets de taille 1).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Générer les itemsets candidats de taille 2 en combinant ceux trouvés.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Filtrer ceux dont le support est ≥ min_support.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Répéter en augmentant la taille (3, 4, 5…) jusqu'à ce qu'aucun nouvel itemset fréquent n'apparaisse.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983480"/>
            <a:ext cx="484632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074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Propriété clé : </a:t>
            </a:r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itemset est fréquent, tous ses sous-ensembles le sont aussi (anti-monotonicité). Permet d'élaguer massivement l'espace de recherche.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sur nos données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transaction (district engagé) :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2514600"/>
            <a:ext cx="5029200" cy="59436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560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committed, operating, low_income,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high_poverty, high_need, large_district 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32461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Apriori cherche les sous-ensembles d'items qui apparaissent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fréquemment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dans les 1 559 transactions.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Ex. : </a:t>
            </a:r>
            <a:pPr indent="0" marL="0">
              <a:buNone/>
            </a:pPr>
            <a:r>
              <a:rPr lang="en-US" sz="120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high_poverty, large_district }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apparaît dans 43 % des districts engagés → itemset fréquent.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Les trois métriques clés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règle d'association se note A → B (« si A, alors B »). On évalue chaque règle avec trois métriques complémentaires.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576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20040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Support(A → B) = P(A ∩ 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à laquelle A et B apparaissent ensemble dans les transactions.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434840"/>
            <a:ext cx="320040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5262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À quoi ça sert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les règles trop rares pour être utiles (bruit).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1600200"/>
            <a:ext cx="36576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1688" y="160020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Confiance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90288" y="2331720"/>
            <a:ext cx="320040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Confiance(A → B) = P(B | 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0288" y="30175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B sachant A. « Si une transaction contient A, quelle fraction contient aussi B ? 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0288" y="4434840"/>
            <a:ext cx="3200400" cy="18288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4590288" y="45262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À quoi ça sert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fiabilité de la règle (en %).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6176" y="1600200"/>
            <a:ext cx="36576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66176" y="160020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3" name="Text 21"/>
          <p:cNvSpPr/>
          <p:nvPr/>
        </p:nvSpPr>
        <p:spPr>
          <a:xfrm>
            <a:off x="8266176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494776" y="2331720"/>
            <a:ext cx="320040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494776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Lift(A → B) = P(B | A) / P(B)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94776" y="30175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 confiance à la fréquence de base de B. Lift &gt; 1 → A et B sont positivement corrélés.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94776" y="4434840"/>
            <a:ext cx="3200400" cy="18288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8" name="Text 26"/>
          <p:cNvSpPr/>
          <p:nvPr/>
        </p:nvSpPr>
        <p:spPr>
          <a:xfrm>
            <a:off x="8494776" y="45262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À quoi ça sert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les vraies associations du hasard.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Itemsets fréquents extraits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min_support = 5 %, Apriori extrait 617 itemsets fréquents — dont 73 de taille ≤ 2 et 544 de taille ≥ 3.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600200"/>
            <a:ext cx="425196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148840"/>
            <a:ext cx="3931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74 % des districts engagés sont de grands districts (large_district).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57 % ont un fort besoin scolaire (high_need).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54 % opèrent déjà des bus électriques (operating).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53 % ont un taux de pauvreté élevé.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Combinaisons fréquentes (taille ≥ 2) 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{high_poverty, large_district}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43 % des engagés.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{high_need, large_district}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45 %.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4d.  Règles d'association extraites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min_confidence = 40 %, 5 709 règles sont générées. On se concentre sur celles à fort lift (associations significatives).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5 709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générées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5544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554480"/>
            <a:ext cx="3657600" cy="73152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4,73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61688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maximum atteint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66176" y="15544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6176" y="1554480"/>
            <a:ext cx="3657600" cy="73152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62 %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66176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de la règle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plus fort lift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11247120" cy="12801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063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 au lift le plus élevé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429000"/>
            <a:ext cx="10789920" cy="45720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8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high_poverty &amp; low_income &amp; small_district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 xml:space="preserve">    →    </a:t>
            </a:r>
            <a:pPr algn="ctr" indent="0" marL="0">
              <a:buNone/>
            </a:pPr>
            <a:r>
              <a:rPr lang="en-US" sz="1250" b="1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epa_2023 &amp; high_need &amp; rural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3931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5,1 %</a:t>
            </a:r>
            <a:pPr algn="ctr" indent="0" marL="0">
              <a:buNone/>
            </a:pPr>
            <a:r>
              <a:rPr lang="en-US" sz="1150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62 %</a:t>
            </a:r>
            <a:pPr algn="ctr" indent="0" marL="0">
              <a:buNone/>
            </a:pPr>
            <a:r>
              <a:rPr lang="en-US" sz="1150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4,73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34840"/>
            <a:ext cx="109728" cy="137160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26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 métier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8920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Les districts </a:t>
            </a:r>
            <a:pPr indent="0" marL="0">
              <a:buNone/>
            </a:pPr>
            <a:r>
              <a:rPr lang="en-US" sz="12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petits, pauvres et à bas revenus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sont 4,73 fois plus susceptibles d'être </a:t>
            </a:r>
            <a:pPr indent="0" marL="0">
              <a:buNone/>
            </a:pPr>
            <a:r>
              <a:rPr lang="en-US" sz="1200" b="1" dirty="0">
                <a:solidFill>
                  <a:srgbClr val="14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prioritaires EPA, à forts besoins et ruraux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que la moyenne (lift = 4,73 ≫ 1). C'est exactement la cible des programmes fédéraux de subvention pour bus électriques.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commerciale : prioriser ces districts dans les démarches liées aux subventions EPA.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4e.  L'algorithme Eclat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la comparaison, deux mots sur Eclat — un second algorithme d'extraction d'itemsets fréquents, qu'on utilisera pour valider Apriori.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: parcours en profondeur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Représentation verticale : pour chaque item, on stocke la liste des transactions qui le contiennent (TID-set).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 explore l'arbre des itemsets en profondeur : on prend un item, on combine avec un suivant, on continue tant que l'itemset est fréquent.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Calcul du support par intersection de TID-sets — pas besoin de relire le jeu de données.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4983480"/>
            <a:ext cx="484632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074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Astuce clé : </a:t>
            </a:r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d'un itemset = taille de l'intersection des TID-sets des items. Beaucoup plus rapide qu'un scan complet des transactions.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Différences avec Apriori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Largeur d'abord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Profondeur d'abord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(transactions × items)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(item → TID-set)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des 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 de TID-sets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gourmande (gros TID-sets)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029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algorithmes résolvent le même problème (trouver les itemsets fréquents) mais avec des stratégies opposées.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4f.  Comparaison Apriori vs Eclat sur nos 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 qu'on a les deux algorithmes, on les applique aux mêmes données et on compare leurs résultats.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Approche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Largeur d'abord (niveau par niveau)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Profondeur d'abord (vertical)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Représentation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Horizontale (transactions × items)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Verticale (items × TID-set)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Itemsets trouvés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d'exécution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rapide (~0,008 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600200"/>
            <a:ext cx="4663440" cy="41148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69480" y="219456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identiques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les deux algorithmes trouvent exactement les mêmes 617 itemsets fréquents — c'est attendu, ils cherchent la même chose, juste avec une stratégie différente.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Eclat est plus rapide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grâce à son format vertical, mais Apriori reste le plus utilisé pour son interprétabilité et son support natif dans mlxtend.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Sur 1 559 transactions, l'écart de performance est négligeable.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garde Apriori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car il est mieux documenté et plus simple à expliquer.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4g.  Profils-types des districts engagés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associations en 4 profils-types, chacun avec son action commerciale associée.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28016" cy="196596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Précaires ruraux subventionnés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high_poverty + low_income + small_district + epa_2023 + rural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districts ruraux à bas revenus et forte pauvreté, ciblés par le programme fédéral EPA 2023.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4937760" cy="18288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906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Action : </a:t>
            </a:r>
            <a:pPr indent="0" marL="0">
              <a:buNone/>
            </a:pPr>
            <a:r>
              <a:rPr lang="en-US" sz="105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des subventions, accompagnement administratif.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600200"/>
            <a:ext cx="128016" cy="196596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Grands districts en opération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+ large_district + high_need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districts ayant déjà des bus électriques en opération, à forts besoins scolaires.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017520"/>
            <a:ext cx="4937760" cy="18288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0906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Action : </a:t>
            </a:r>
            <a:pPr indent="0" marL="0">
              <a:buNone/>
            </a:pPr>
            <a:r>
              <a:rPr lang="en-US" sz="105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 flotte, services premium et maintenance.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128016" cy="196596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Aisés urbains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high_income + urban (souvent large_district)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urbains à revenus élevés, généralement de grande taille.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166360"/>
            <a:ext cx="493776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2395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Action : </a:t>
            </a:r>
            <a:pPr indent="0" marL="0">
              <a:buNone/>
            </a:pPr>
            <a:r>
              <a:rPr lang="en-US" sz="105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standard, démonstration ROI et image écologique.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74904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3749040"/>
            <a:ext cx="128016" cy="196596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 polluante élevée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pollution_burden + epa_2023 + committed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4663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identifiés par EPA pour leur exposition à la pollution.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5166360"/>
            <a:ext cx="4937760" cy="18288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2395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Action : </a:t>
            </a:r>
            <a:pPr indent="0" marL="0">
              <a:buNone/>
            </a:pPr>
            <a:r>
              <a:rPr lang="en-US" sz="105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santé publique, partenariats locaux.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"/>
            <a:ext cx="164592" cy="64008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 itemsets fréquents extraits par Apriori (min_support = 5 %)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5 709 règles d'association générées (min_confidence = 40 %)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à Eclat : résultats identiques, choix d'Apriori validé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profils-types métier identifiés avec actions commerciales associées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pistes (B206)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règles redondantes (committed dans 100 % des transactions)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comparaison directe entre profils engagés et non-engagés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tester d'autres seuils support / confidence, explorer FP-Growth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Apriori (min_support = 5 %, min_confidence = 40 %)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 itemsets   ·   5 709 règles   ·   lift max 4,73   ·   4 profils métier identifiés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Bar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itle"/>
          <p:cNvSpPr/>
          <p:nvPr/>
        </p:nvSpPr>
        <p:spPr>
          <a:xfrm>
            <a:off x="68580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3000" b="1" dirty="0">
                <a:solidFill>
                  <a:srgbClr val="1B3A5B"/>
                </a:solidFill>
                <a:latin typeface="Georgia" pitchFamily="34" charset="0"/>
              </a:rPr>
              <a:t>Introduction — Contexte du projet</a:t>
            </a:r>
            <a:endParaRPr lang="fr-FR" sz="1400" dirty="0"/>
          </a:p>
        </p:txBody>
      </p:sp>
      <p:sp>
        <p:nvSpPr>
          <p:cNvPr id="20" name="Card20"/>
          <p:cNvSpPr/>
          <p:nvPr/>
        </p:nvSpPr>
        <p:spPr>
          <a:xfrm>
            <a:off x="45720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Band0"/>
          <p:cNvSpPr/>
          <p:nvPr/>
        </p:nvSpPr>
        <p:spPr>
          <a:xfrm>
            <a:off x="457200" y="1188720"/>
            <a:ext cx="3291840" cy="6400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22" name="Val0"/>
          <p:cNvSpPr/>
          <p:nvPr/>
        </p:nvSpPr>
        <p:spPr>
          <a:xfrm>
            <a:off x="45720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1C9A8E"/>
                </a:solidFill>
                <a:latin typeface="Georgia" pitchFamily="34" charset="0"/>
              </a:rPr>
              <a:t>26 M</a:t>
            </a:r>
            <a:endParaRPr lang="fr-FR" sz="1400" dirty="0"/>
          </a:p>
        </p:txBody>
      </p:sp>
      <p:sp>
        <p:nvSpPr>
          <p:cNvPr id="23" name="Lbl0"/>
          <p:cNvSpPr/>
          <p:nvPr/>
        </p:nvSpPr>
        <p:spPr>
          <a:xfrm>
            <a:off x="45720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élèves américains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prennent le bus scolaire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chaque matin</a:t>
            </a:r>
            <a:endParaRPr lang="fr-FR" sz="1400" dirty="0"/>
          </a:p>
        </p:txBody>
      </p:sp>
      <p:sp>
        <p:nvSpPr>
          <p:cNvPr id="24" name="Card24"/>
          <p:cNvSpPr/>
          <p:nvPr/>
        </p:nvSpPr>
        <p:spPr>
          <a:xfrm>
            <a:off x="406908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Band1"/>
          <p:cNvSpPr/>
          <p:nvPr/>
        </p:nvSpPr>
        <p:spPr>
          <a:xfrm>
            <a:off x="4069080" y="1188720"/>
            <a:ext cx="3291840" cy="6400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6" name="Val1"/>
          <p:cNvSpPr/>
          <p:nvPr/>
        </p:nvSpPr>
        <p:spPr>
          <a:xfrm>
            <a:off x="406908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2E6E9E"/>
                </a:solidFill>
                <a:latin typeface="Georgia" pitchFamily="34" charset="0"/>
              </a:rPr>
              <a:t>480 000</a:t>
            </a:r>
            <a:endParaRPr lang="fr-FR" sz="1400" dirty="0"/>
          </a:p>
        </p:txBody>
      </p:sp>
      <p:sp>
        <p:nvSpPr>
          <p:cNvPr id="27" name="Lbl1"/>
          <p:cNvSpPr/>
          <p:nvPr/>
        </p:nvSpPr>
        <p:spPr>
          <a:xfrm>
            <a:off x="406908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bus scolaires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en circulation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(majoritairement diesel)</a:t>
            </a:r>
            <a:endParaRPr lang="fr-FR" sz="1400" dirty="0"/>
          </a:p>
        </p:txBody>
      </p:sp>
      <p:sp>
        <p:nvSpPr>
          <p:cNvPr id="28" name="Card28"/>
          <p:cNvSpPr/>
          <p:nvPr/>
        </p:nvSpPr>
        <p:spPr>
          <a:xfrm>
            <a:off x="768096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Band2"/>
          <p:cNvSpPr/>
          <p:nvPr/>
        </p:nvSpPr>
        <p:spPr>
          <a:xfrm>
            <a:off x="7680960" y="1188720"/>
            <a:ext cx="3291840" cy="64008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0" name="Val2"/>
          <p:cNvSpPr/>
          <p:nvPr/>
        </p:nvSpPr>
        <p:spPr>
          <a:xfrm>
            <a:off x="768096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1B3A5B"/>
                </a:solidFill>
                <a:latin typeface="Georgia" pitchFamily="34" charset="0"/>
              </a:rPr>
              <a:t>19 516</a:t>
            </a:r>
            <a:endParaRPr lang="fr-FR" sz="1400" dirty="0"/>
          </a:p>
        </p:txBody>
      </p:sp>
      <p:sp>
        <p:nvSpPr>
          <p:cNvPr id="31" name="Lbl2"/>
          <p:cNvSpPr/>
          <p:nvPr/>
        </p:nvSpPr>
        <p:spPr>
          <a:xfrm>
            <a:off x="768096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districts scolaires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recensés dans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le dataset WRI</a:t>
            </a:r>
            <a:endParaRPr lang="fr-FR" sz="1400" dirty="0"/>
          </a:p>
        </p:txBody>
      </p:sp>
      <p:sp>
        <p:nvSpPr>
          <p:cNvPr id="40" name="Card40"/>
          <p:cNvSpPr/>
          <p:nvPr/>
        </p:nvSpPr>
        <p:spPr>
          <a:xfrm>
            <a:off x="457200" y="2788920"/>
            <a:ext cx="64008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NBar"/>
          <p:cNvSpPr/>
          <p:nvPr/>
        </p:nvSpPr>
        <p:spPr>
          <a:xfrm>
            <a:off x="457200" y="2788920"/>
            <a:ext cx="109728" cy="23317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2" name="Narr"/>
          <p:cNvSpPr/>
          <p:nvPr/>
        </p:nvSpPr>
        <p:spPr>
          <a:xfrm>
            <a:off x="713232" y="2880360"/>
            <a:ext cx="603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Ces bus circulent souvent dans les quartiers les plus exposés à la pollution — </a:t>
            </a:r>
            <a:r>
              <a:rPr lang="fr-FR" sz="1300" b="1" dirty="0">
                <a:solidFill>
                  <a:srgbClr val="1B3A5B"/>
                </a:solidFill>
                <a:latin typeface="Calibri" pitchFamily="34" charset="0"/>
              </a:rPr>
              <a:t>une question d'équité autant que de santé publique.</a:t>
            </a:r>
            <a:endParaRPr lang="fr-FR" sz="1400" dirty="0"/>
          </a:p>
          <a:p>
            <a:pPr algn="l" indent="0" marL="0">
              <a:buNone/>
            </a:pPr>
            <a:r>
              <a:rPr lang="fr-FR" sz="8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>Depuis quelques années, des programmes fédéraux et des subventions accélèrent la transition électrique. Mais sur 19 516 districts, la grande majorité n'a pas encore franchi le pas.</a:t>
            </a:r>
            <a:endParaRPr lang="fr-FR" sz="1400" dirty="0"/>
          </a:p>
          <a:p>
            <a:pPr algn="l" indent="0" marL="0">
              <a:buNone/>
            </a:pPr>
            <a:r>
              <a:rPr lang="fr-FR" sz="8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Notre projet : utiliser le </a:t>
            </a:r>
            <a:r>
              <a:rPr lang="fr-FR" sz="1300" b="1" dirty="0">
                <a:solidFill>
                  <a:srgbClr val="1C9A8E"/>
                </a:solidFill>
                <a:latin typeface="Calibri" pitchFamily="34" charset="0"/>
              </a:rPr>
              <a:t>machine learning</a:t>
            </a: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 pour comprendre, anticiper et accélérer cette transition.</a:t>
            </a:r>
            <a:endParaRPr lang="fr-FR" sz="1400" dirty="0"/>
          </a:p>
        </p:txBody>
      </p:sp>
      <p:sp>
        <p:nvSpPr>
          <p:cNvPr id="43" name="Card43"/>
          <p:cNvSpPr/>
          <p:nvPr/>
        </p:nvSpPr>
        <p:spPr>
          <a:xfrm>
            <a:off x="7132320" y="2788920"/>
            <a:ext cx="42976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rc"/>
          <p:cNvSpPr/>
          <p:nvPr/>
        </p:nvSpPr>
        <p:spPr>
          <a:xfrm>
            <a:off x="7360920" y="288036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5B"/>
                </a:solidFill>
                <a:latin typeface="Georgia" pitchFamily="34" charset="0"/>
              </a:rPr>
              <a:t>Source de données</a:t>
            </a:r>
            <a:endParaRPr lang="fr-FR" sz="1400" dirty="0"/>
          </a:p>
          <a:p>
            <a:pPr algn="l" indent="0" marL="0">
              <a:buNone/>
            </a:pPr>
            <a:r>
              <a:rPr lang="fr-FR" sz="6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150" i="1" dirty="0">
                <a:solidFill>
                  <a:srgbClr val="1C9A8E"/>
                </a:solidFill>
                <a:latin typeface="Calibri" pitchFamily="34" charset="0"/>
              </a:rPr>
              <a:t>Dataset of U.S. Electric School Bus Adoption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5B6B7A"/>
                </a:solidFill>
                <a:latin typeface="Calibri" pitchFamily="34" charset="0"/>
              </a:rPr>
              <a:t>World Resources Institute / ESB Initiative</a:t>
            </a:r>
            <a:endParaRPr lang="fr-FR" sz="1400" dirty="0"/>
          </a:p>
          <a:p>
            <a:pPr algn="l" indent="0" marL="0">
              <a:buNone/>
            </a:pPr>
            <a:r>
              <a:rPr lang="fr-FR" sz="6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Feuille « District-level data »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Chaque ligne = un district scolaire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91 colonnes — socio-économiques,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environnementales, géographiques</a:t>
            </a:r>
            <a:endParaRPr lang="fr-FR" sz="1400" dirty="0"/>
          </a:p>
        </p:txBody>
      </p:sp>
      <p:sp>
        <p:nvSpPr>
          <p:cNvPr id="50" name="FooterBar"/>
          <p:cNvSpPr/>
          <p:nvPr/>
        </p:nvSpPr>
        <p:spPr>
          <a:xfrm>
            <a:off x="0" y="5934456"/>
            <a:ext cx="1219200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51" name="FooterL"/>
          <p:cNvSpPr/>
          <p:nvPr/>
        </p:nvSpPr>
        <p:spPr>
          <a:xfrm>
            <a:off x="457200" y="59344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Machine Learning II (ADIF84) — Lab 4 : Règles d'association (Apriori)</a:t>
            </a:r>
            <a:endParaRPr lang="fr-FR" sz="1400" dirty="0"/>
          </a:p>
        </p:txBody>
      </p:sp>
      <p:sp>
        <p:nvSpPr>
          <p:cNvPr id="52" name="FooterR"/>
          <p:cNvSpPr/>
          <p:nvPr/>
        </p:nvSpPr>
        <p:spPr>
          <a:xfrm>
            <a:off x="10972800" y="5934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—</a:t>
            </a:r>
            <a:endParaRPr lang="fr-FR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Bar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itle"/>
          <p:cNvSpPr/>
          <p:nvPr/>
        </p:nvSpPr>
        <p:spPr>
          <a:xfrm>
            <a:off x="68580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3000" b="1" dirty="0">
                <a:solidFill>
                  <a:srgbClr val="1B3A5B"/>
                </a:solidFill>
                <a:latin typeface="Georgia" pitchFamily="34" charset="0"/>
              </a:rPr>
              <a:t>1.  Compréhension du problème métier</a:t>
            </a:r>
            <a:endParaRPr lang="fr-FR" sz="1400" dirty="0"/>
          </a:p>
        </p:txBody>
      </p:sp>
      <p:sp>
        <p:nvSpPr>
          <p:cNvPr id="4" name="Sub"/>
          <p:cNvSpPr/>
          <p:nvPr/>
        </p:nvSpPr>
        <p:spPr>
          <a:xfrm>
            <a:off x="68580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100" i="1" dirty="0">
                <a:solidFill>
                  <a:srgbClr val="5B6B7A"/>
                </a:solidFill>
                <a:latin typeface="Calibri" pitchFamily="34" charset="0"/>
              </a:rPr>
              <a:t>Ce TP — Règles d'association (Apriori)</a:t>
            </a:r>
            <a:endParaRPr lang="fr-FR" sz="1400" dirty="0"/>
          </a:p>
        </p:txBody>
      </p:sp>
      <p:sp>
        <p:nvSpPr>
          <p:cNvPr id="10" name="QBox"/>
          <p:cNvSpPr/>
          <p:nvPr/>
        </p:nvSpPr>
        <p:spPr>
          <a:xfrm>
            <a:off x="457200" y="1417320"/>
            <a:ext cx="10698480" cy="7772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QTxt"/>
          <p:cNvSpPr/>
          <p:nvPr/>
        </p:nvSpPr>
        <p:spPr>
          <a:xfrm>
            <a:off x="685800" y="1417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500" b="1" i="1" dirty="0">
                <a:solidFill>
                  <a:srgbClr val="FFFFFF"/>
                </a:solidFill>
                <a:latin typeface="Calibri" pitchFamily="34" charset="0"/>
              </a:rPr>
              <a:t>« Quelles combinaisons d'attributs retrouve-t-on le plus souvent chez les districts engagés ? »</a:t>
            </a:r>
            <a:endParaRPr lang="fr-FR" sz="1400" dirty="0"/>
          </a:p>
        </p:txBody>
      </p:sp>
      <p:sp>
        <p:nvSpPr>
          <p:cNvPr id="20" name="Card20"/>
          <p:cNvSpPr/>
          <p:nvPr/>
        </p:nvSpPr>
        <p:spPr>
          <a:xfrm>
            <a:off x="45720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CBar0"/>
          <p:cNvSpPr/>
          <p:nvPr/>
        </p:nvSpPr>
        <p:spPr>
          <a:xfrm>
            <a:off x="457200" y="2377440"/>
            <a:ext cx="109728" cy="23774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22" name="CTitle0"/>
          <p:cNvSpPr/>
          <p:nvPr/>
        </p:nvSpPr>
        <p:spPr>
          <a:xfrm>
            <a:off x="65836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Objectif business</a:t>
            </a:r>
            <a:endParaRPr lang="fr-FR" sz="1400" dirty="0"/>
          </a:p>
        </p:txBody>
      </p:sp>
      <p:sp>
        <p:nvSpPr>
          <p:cNvPr id="23" name="CBody0"/>
          <p:cNvSpPr/>
          <p:nvPr/>
        </p:nvSpPr>
        <p:spPr>
          <a:xfrm>
            <a:off x="65836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Identifier les combinaisons de conditions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fréquentes chez les 1 559 districts engagés.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On ne prédit pas — on comprend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ce qui favorise l'adoption.</a:t>
            </a:r>
            <a:endParaRPr lang="fr-FR" sz="1400" dirty="0"/>
          </a:p>
        </p:txBody>
      </p:sp>
      <p:sp>
        <p:nvSpPr>
          <p:cNvPr id="25" name="Card25"/>
          <p:cNvSpPr/>
          <p:nvPr/>
        </p:nvSpPr>
        <p:spPr>
          <a:xfrm>
            <a:off x="406908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CBar1"/>
          <p:cNvSpPr/>
          <p:nvPr/>
        </p:nvSpPr>
        <p:spPr>
          <a:xfrm>
            <a:off x="4069080" y="2377440"/>
            <a:ext cx="109728" cy="2377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7" name="CTitle1"/>
          <p:cNvSpPr/>
          <p:nvPr/>
        </p:nvSpPr>
        <p:spPr>
          <a:xfrm>
            <a:off x="427024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Type de tâche</a:t>
            </a:r>
            <a:endParaRPr lang="fr-FR" sz="1400" dirty="0"/>
          </a:p>
        </p:txBody>
      </p:sp>
      <p:sp>
        <p:nvSpPr>
          <p:cNvPr id="28" name="CBody1"/>
          <p:cNvSpPr/>
          <p:nvPr/>
        </p:nvSpPr>
        <p:spPr>
          <a:xfrm>
            <a:off x="427024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Découverte d'associations — Apriori.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Analyse descriptive non supervisée.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19 517 districts — 13 attributs binaires.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Modèle imposé par le sujet.</a:t>
            </a:r>
            <a:endParaRPr lang="fr-FR" sz="1400" dirty="0"/>
          </a:p>
        </p:txBody>
      </p:sp>
      <p:sp>
        <p:nvSpPr>
          <p:cNvPr id="30" name="Card30"/>
          <p:cNvSpPr/>
          <p:nvPr/>
        </p:nvSpPr>
        <p:spPr>
          <a:xfrm>
            <a:off x="768096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CBar2"/>
          <p:cNvSpPr/>
          <p:nvPr/>
        </p:nvSpPr>
        <p:spPr>
          <a:xfrm>
            <a:off x="7680960" y="2377440"/>
            <a:ext cx="109728" cy="23774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2" name="CTitle2"/>
          <p:cNvSpPr/>
          <p:nvPr/>
        </p:nvSpPr>
        <p:spPr>
          <a:xfrm>
            <a:off x="788212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Intérêt métier</a:t>
            </a:r>
            <a:endParaRPr lang="fr-FR" sz="1400" dirty="0"/>
          </a:p>
        </p:txBody>
      </p:sp>
      <p:sp>
        <p:nvSpPr>
          <p:cNvPr id="33" name="CBody2"/>
          <p:cNvSpPr/>
          <p:nvPr/>
        </p:nvSpPr>
        <p:spPr>
          <a:xfrm>
            <a:off x="788212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Cibler les profils favorables.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Adapter le discours commercial.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Évaluer l'équité : la transition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profite-t-elle à tous les districts ?</a:t>
            </a:r>
            <a:endParaRPr lang="fr-FR" sz="1400" dirty="0"/>
          </a:p>
        </p:txBody>
      </p:sp>
      <p:sp>
        <p:nvSpPr>
          <p:cNvPr id="50" name="RCard50"/>
          <p:cNvSpPr/>
          <p:nvPr/>
        </p:nvSpPr>
        <p:spPr>
          <a:xfrm>
            <a:off x="457200" y="4892040"/>
            <a:ext cx="10698480" cy="59436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51" name="Note"/>
          <p:cNvSpPr/>
          <p:nvPr/>
        </p:nvSpPr>
        <p:spPr>
          <a:xfrm>
            <a:off x="640080" y="48920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5B"/>
                </a:solidFill>
                <a:latin typeface="Calibri" pitchFamily="34" charset="0"/>
              </a:rPr>
              <a:t xml:space="preserve">Comme en grande distribution : </a:t>
            </a:r>
            <a:r>
              <a:rPr lang="fr-FR" sz="1200" dirty="0">
                <a:solidFill>
                  <a:srgbClr val="1E2A36"/>
                </a:solidFill>
                <a:latin typeface="Calibri" pitchFamily="34" charset="0"/>
              </a:rPr>
              <a:t>« les clients qui achètent du pain achètent aussi du beurre » — ici on remplace les produits par des attributs de districts.</a:t>
            </a:r>
            <a:endParaRPr lang="fr-FR" sz="1400" dirty="0"/>
          </a:p>
        </p:txBody>
      </p:sp>
      <p:sp>
        <p:nvSpPr>
          <p:cNvPr id="55" name="FooterBar"/>
          <p:cNvSpPr/>
          <p:nvPr/>
        </p:nvSpPr>
        <p:spPr>
          <a:xfrm>
            <a:off x="0" y="5934456"/>
            <a:ext cx="1219200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56" name="FooterL"/>
          <p:cNvSpPr/>
          <p:nvPr/>
        </p:nvSpPr>
        <p:spPr>
          <a:xfrm>
            <a:off x="457200" y="59344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Machine Learning II (ADIF84) — Lab 4 : Règles d'association (Apriori)</a:t>
            </a:r>
            <a:endParaRPr lang="fr-FR" sz="1400" dirty="0"/>
          </a:p>
        </p:txBody>
      </p:sp>
      <p:sp>
        <p:nvSpPr>
          <p:cNvPr id="57" name="FooterR"/>
          <p:cNvSpPr/>
          <p:nvPr/>
        </p:nvSpPr>
        <p:spPr>
          <a:xfrm>
            <a:off x="10972800" y="5934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—</a:t>
            </a:r>
            <a:endParaRPr lang="fr-F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4 — Règles d'association (Apriori)</dc:title>
  <dc:subject>PptxGenJS Presentation</dc:subject>
  <dc:creator>Equipe ML II</dc:creator>
  <cp:lastModifiedBy>Equipe ML II</cp:lastModifiedBy>
  <cp:revision>1</cp:revision>
  <dcterms:created xsi:type="dcterms:W3CDTF">2026-05-27T15:55:26Z</dcterms:created>
  <dcterms:modified xsi:type="dcterms:W3CDTF">2026-05-27T15:55:26Z</dcterms:modified>
</cp:coreProperties>
</file>