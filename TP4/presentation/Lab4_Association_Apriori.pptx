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5B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1B3A5B"/>
                </a:solidFill>
                <a:latin typeface="Georgia"/>
              </a:rPr>
              <a:t>Top 10 attributs présents chez les districts engagés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des districts engagés</c:v>
                </c:pt>
              </c:strCache>
            </c:strRef>
          </c:tx>
          <c:spPr>
            <a:solidFill>
              <a:srgbClr val="147A7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A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large_district</c:v>
                  </c:pt>
                  <c:pt idx="1">
                    <c:v>high_need</c:v>
                  </c:pt>
                  <c:pt idx="2">
                    <c:v>operating</c:v>
                  </c:pt>
                  <c:pt idx="3">
                    <c:v>high_poverty</c:v>
                  </c:pt>
                  <c:pt idx="4">
                    <c:v>high_income</c:v>
                  </c:pt>
                  <c:pt idx="5">
                    <c:v>low_income</c:v>
                  </c:pt>
                  <c:pt idx="6">
                    <c:v>epa_2023</c:v>
                  </c:pt>
                  <c:pt idx="7">
                    <c:v>rural</c:v>
                  </c:pt>
                  <c:pt idx="8">
                    <c:v>pollution_burden</c:v>
                  </c:pt>
                  <c:pt idx="9">
                    <c:v>small_district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74.1</c:v>
                </c:pt>
                <c:pt idx="1">
                  <c:v>57.3</c:v>
                </c:pt>
                <c:pt idx="2">
                  <c:v>53.6</c:v>
                </c:pt>
                <c:pt idx="3">
                  <c:v>53.3</c:v>
                </c:pt>
                <c:pt idx="4">
                  <c:v>44.3</c:v>
                </c:pt>
                <c:pt idx="5">
                  <c:v>43.1</c:v>
                </c:pt>
                <c:pt idx="6">
                  <c:v>40.4</c:v>
                </c:pt>
                <c:pt idx="7">
                  <c:v>35.2</c:v>
                </c:pt>
                <c:pt idx="8">
                  <c:v>31.4</c:v>
                </c:pt>
                <c:pt idx="9">
                  <c:v>22.6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A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— ADIF84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4 — Profils des districts engagés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 d'associations à l'aide de l'algorithme Apriori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389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389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4389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métier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0440" y="4389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4389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069080" y="4389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des données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4389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4389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75120" y="4389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32520" y="4389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4389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81160" y="4389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&amp; réglage du modèle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imposé par le sujet : Apriori — règles d'association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Compréhension du problème métier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68580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09728" cy="365760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 business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</a:t>
            </a:r>
            <a:pPr indent="0" marL="0">
              <a:buNone/>
            </a:pPr>
            <a:r>
              <a:rPr lang="en-US" sz="13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combinaisons de caractéristiques fréquentes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chez les districts scolaires déjà engagés dans la transition électrique (statuts committed / operating / delivering).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 permet de dresser des </a:t>
            </a:r>
            <a:pPr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profils-types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de mieux comprendre quelles conditions favorisent l'adoption — utile pour orienter une démarche commerciale.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0" y="1188720"/>
            <a:ext cx="4114800" cy="365760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17373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Quelles combinaisons d'attributs (revenus, localisation, pauvreté, pollution…) retrouve-t-on le plus souvent chez les districts engagés ? 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3383280"/>
            <a:ext cx="3703320" cy="18288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de tâche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3931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 d'associations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 supervisée, descriptive — recherche d'itemsets fréquents).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02920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E3EEF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0292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imposé par le sujet :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Apriori. L'algorithme et son fonctionnement seront détaillés dans la partie « Choix et réglage du modèle ».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4 : Règles d'association (Apriori)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Compréhension des données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657600" cy="914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19 517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scolaires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(transactions)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1887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1188720"/>
            <a:ext cx="3657600" cy="91440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10" name="Text 8"/>
          <p:cNvSpPr/>
          <p:nvPr/>
        </p:nvSpPr>
        <p:spPr>
          <a:xfrm>
            <a:off x="4361688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361688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binaires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(items)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66176" y="11887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66176" y="1188720"/>
            <a:ext cx="3657600" cy="9144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66176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8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66176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engagés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(1 559 sur 19 517)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1124712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2926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13 attributs binaires (0 / 1), regroupés en 4 catégories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337560"/>
            <a:ext cx="109728" cy="5486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ESB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3337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committed · operating · delivering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3337560"/>
            <a:ext cx="109728" cy="548640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économique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3337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high_income · low_income · high_poverty · high_need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3977640"/>
            <a:ext cx="109728" cy="54864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977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Géographie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17520" y="3977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urban · rural · large_district · small_district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72200" y="3977640"/>
            <a:ext cx="109728" cy="54864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3977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publique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3920" y="3977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epa_2023 · pollution_burden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892040"/>
            <a:ext cx="11247120" cy="96012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5800" y="49377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Spécificité du jeu de données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" y="52578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92 % de districts non-engagés vs 8 % engagés.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Apriori portera uniquement sur les 1 559 districts engagés pour révéler leurs profils. La densité passe de 28 % (tous) à 45 % (engagés), avec 5,8 attributs moyens par district engagé contre 3,5 sinon.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4 : Règles d'association (Apriori)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Préparation des données d'entraînement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3990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garde que les districts engagés (committed = 1 OU operating = 1 OU delivering = 1) → 1 559 transactions à analyser.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5087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13990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Construction des transactions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17830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district = 1 transaction. Chaque attribut à 1 = 1 item dans la transaction. Ex : {committed, urban, high_income, large_district}.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1089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29992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Encodage one-hot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3832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TransactionEncoder convertit la liste de transactions en matrice booléenne 1 559 × 13, format attendu par Apriori.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8346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1089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29992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Choix des seuils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33832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min_support = 5 % et min_confidence = 40 %. Compromis quantité / qualité — détaillé à la slide 4d.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E3EEF5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68172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Livrable de cette étape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5074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d'entraînement </a:t>
            </a:r>
            <a:pPr indent="0" marL="0">
              <a:buNone/>
            </a:pPr>
            <a:r>
              <a:rPr lang="en-US" sz="1250" b="1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apriori_data_simplified.csv</a:t>
            </a:r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(19 517 districts × 13 attributs binaires) — c'est le « fichier des données d'entraînement » demandé par le sujet, déjà encodé en format transactionnel.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4 : Règles d'association (Apriori)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4a.  L'algorithme Apriori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est l'algorithme de référence pour la découverte d'itemsets fréquents dans des données transactionnelles.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Principe : recherche itérative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Lister tous les items individuels apparaissant dans ≥ min_support des transactions (itemsets de taille 1).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Générer les itemsets candidats de taille 2 en combinant ceux trouvés.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Filtrer ceux dont le support est ≥ min_support.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Répéter en augmentant la taille (3, 4, 5…) jusqu'à ce qu'aucun nouvel itemset fréquent n'apparaisse.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4983480"/>
            <a:ext cx="4846320" cy="18288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0749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 clé : </a:t>
            </a:r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itemset est fréquent, tous ses sous-ensembles le sont aussi (anti-monotonicité). Permet d'élaguer massivement l'espace de recherche.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486400" cy="416052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Exemple sur nos données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transaction (district engagé) :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46520" y="2514600"/>
            <a:ext cx="5029200" cy="594360"/>
          </a:xfrm>
          <a:prstGeom prst="rect">
            <a:avLst/>
          </a:prstGeom>
          <a:solidFill>
            <a:srgbClr val="12273D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5603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9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committed, operating, low_income,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9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high_poverty, high_need, large_district }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324612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cherche les sous-ensembles d'items qui apparaissent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fréquemment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les 1 559 transactions.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: </a:t>
            </a:r>
            <a:pPr indent="0" marL="0">
              <a:buNone/>
            </a:pPr>
            <a:r>
              <a:rPr lang="en-US" sz="1200" dirty="0">
                <a:solidFill>
                  <a:srgbClr val="1C9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high_poverty, large_district }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apparaît dans 43 % des districts engagés → itemset fréquent.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4 : Règles d'association (Apriori)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4b.  Les trois métriques clés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règle d'association se note A → B (« si A, alors B »). On évalue chaque règle avec trois métriques complémentaires.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6576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3657600" cy="914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" y="2331720"/>
            <a:ext cx="3200400" cy="5486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31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Support(A → B) = P(A ∩ B)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01752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à laquelle A et B apparaissent ensemble dans les transactions.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4434840"/>
            <a:ext cx="3200400" cy="18288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5262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quoi ça sert : </a:t>
            </a:r>
            <a:pPr indent="0" marL="0">
              <a:buNone/>
            </a:pPr>
            <a:r>
              <a:rPr lang="en-US" sz="110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les règles trop rares pour être utiles (bruit).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61688" y="1600200"/>
            <a:ext cx="36576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61688" y="1600200"/>
            <a:ext cx="3657600" cy="91440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15" name="Text 13"/>
          <p:cNvSpPr/>
          <p:nvPr/>
        </p:nvSpPr>
        <p:spPr>
          <a:xfrm>
            <a:off x="4361688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Confiance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90288" y="2331720"/>
            <a:ext cx="3200400" cy="5486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4590288" y="2331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Confiance(A → B) = P(B | 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90288" y="301752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de B sachant A. « Si une transaction contient A, quelle fraction contient aussi B ? »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90288" y="4434840"/>
            <a:ext cx="3200400" cy="18288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20" name="Text 18"/>
          <p:cNvSpPr/>
          <p:nvPr/>
        </p:nvSpPr>
        <p:spPr>
          <a:xfrm>
            <a:off x="4590288" y="45262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quoi ça sert : </a:t>
            </a:r>
            <a:pPr indent="0" marL="0">
              <a:buNone/>
            </a:pPr>
            <a:r>
              <a:rPr lang="en-US" sz="110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la fiabilité de la règle (en %).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66176" y="1600200"/>
            <a:ext cx="36576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66176" y="1600200"/>
            <a:ext cx="3657600" cy="9144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23" name="Text 21"/>
          <p:cNvSpPr/>
          <p:nvPr/>
        </p:nvSpPr>
        <p:spPr>
          <a:xfrm>
            <a:off x="8266176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8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Lift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494776" y="2331720"/>
            <a:ext cx="3200400" cy="5486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8494776" y="2331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Lift(A → B) = P(B | A) / P(B)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94776" y="301752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la confiance à la fréquence de base de B. Lift &gt; 1 → A et B sont positivement corrélés.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94776" y="4434840"/>
            <a:ext cx="3200400" cy="18288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28" name="Text 26"/>
          <p:cNvSpPr/>
          <p:nvPr/>
        </p:nvSpPr>
        <p:spPr>
          <a:xfrm>
            <a:off x="8494776" y="45262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quoi ça sert : </a:t>
            </a:r>
            <a:pPr indent="0" marL="0">
              <a:buNone/>
            </a:pPr>
            <a:r>
              <a:rPr lang="en-US" sz="110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Distinguer les vraies associations du hasard.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4 : Règles d'association (Apriori)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4c.  Itemsets fréquents extraits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min_support = 5 %, Apriori extrait 617 itemsets fréquents — dont 73 de taille ≤ 2 et 544 de taille ≥ 3.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00200"/>
          <a:ext cx="68580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600200"/>
            <a:ext cx="4251960" cy="416052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8096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80960" y="2148840"/>
            <a:ext cx="39319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74 % des districts engagés sont de grands districts (large_district).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57 % ont un fort besoin scolaire (high_need).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54 % opèrent déjà des bus électriques (operating).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53 % ont un taux de pauvreté élevé.</a:t>
            </a:r>
            <a:endParaRPr lang="en-US" sz="1150" dirty="0"/>
          </a:p>
          <a:p>
            <a:pPr indent="0" marL="0">
              <a:buNone/>
            </a:pPr>
            <a:r>
              <a:rPr lang="en-US" sz="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Combinaisons fréquentes (taille ≥ 2) 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9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{high_poverty, large_district}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43 % des engagés.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9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{high_need, large_district}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45 %.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4 : Règles d'association (Apriori)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4d.  Règles d'association extraites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min_confidence = 40 %, 5 709 règles sont générées. On se concentre sur celles à fort lift (associations significatives).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3657600" cy="73152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5 709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générées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155448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1688" y="1554480"/>
            <a:ext cx="3657600" cy="73152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8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4,73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61688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maximum atteint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66176" y="155448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66176" y="1554480"/>
            <a:ext cx="3657600" cy="73152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15" name="Text 13"/>
          <p:cNvSpPr/>
          <p:nvPr/>
        </p:nvSpPr>
        <p:spPr>
          <a:xfrm>
            <a:off x="8266176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62 %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66176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de la règle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plus fort lift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11247120" cy="128016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0632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Règle au lift le plus élevé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3429000"/>
            <a:ext cx="10789920" cy="457200"/>
          </a:xfrm>
          <a:prstGeom prst="rect">
            <a:avLst/>
          </a:prstGeom>
          <a:solidFill>
            <a:srgbClr val="12273D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429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8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high_poverty &amp; low_income &amp; small_district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    →    </a:t>
            </a:r>
            <a:pPr algn="ctr" indent="0" marL="0">
              <a:buNone/>
            </a:pPr>
            <a:r>
              <a:rPr lang="en-US" sz="1250" b="1" dirty="0">
                <a:solidFill>
                  <a:srgbClr val="1C9A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epa_2023 &amp; high_need &amp; rural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3931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5,1 %</a:t>
            </a:r>
            <a:pPr algn="ctr" indent="0" marL="0">
              <a:buNone/>
            </a:pPr>
            <a:r>
              <a:rPr lang="en-US" sz="1150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62 %</a:t>
            </a:r>
            <a:pPr algn="ctr" indent="0" marL="0">
              <a:buNone/>
            </a:pPr>
            <a:r>
              <a:rPr lang="en-US" sz="1150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4,73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112471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434840"/>
            <a:ext cx="109728" cy="137160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526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Interprétation métier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48920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districts </a:t>
            </a:r>
            <a:pPr indent="0" marL="0">
              <a:buNone/>
            </a:pPr>
            <a:r>
              <a:rPr lang="en-US" sz="1200" b="1" dirty="0">
                <a:solidFill>
                  <a:srgbClr val="C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petits, pauvres et à bas revenus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sont 4,73 fois plus susceptibles d'être </a:t>
            </a:r>
            <a:pPr indent="0" marL="0">
              <a:buNone/>
            </a:pPr>
            <a:r>
              <a:rPr lang="en-US" sz="1200" b="1" dirty="0">
                <a:solidFill>
                  <a:srgbClr val="14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prioritaires EPA, à forts besoins et ruraux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la moyenne (lift = 4,73 ≫ 1). C'est exactement la cible des programmes fédéraux de subvention pour bus électriques.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Action commerciale : prioriser ces districts dans les démarches liées aux subventions EPA.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4 : Règles d'association (Apriori)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4e.  L'algorithme Eclat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la comparaison, deux mots sur Eclat — un second algorithme d'extraction d'itemsets fréquents, qu'on utilisera pour valider Apriori.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Principe : parcours en profondeur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Représentation verticale : pour chaque item, on stocke la liste des transactions qui le contiennent (TID-set).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On explore l'arbre des itemsets en profondeur : on prend un item, on combine avec un suivant, on continue tant que l'itemset est fréquent.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Calcul du support par intersection de TID-sets — pas besoin de relire le jeu de données.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4983480"/>
            <a:ext cx="4846320" cy="18288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5074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clé : </a:t>
            </a:r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support d'un itemset = taille de l'intersection des TID-sets des items. Beaucoup plus rapide qu'un scan complet des transactions.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486400" cy="416052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Différences avec Apriori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194560"/>
          <a:ext cx="5120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783080"/>
                <a:gridCol w="1783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Apriori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Eclat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A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Largeur d'abord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Profondeur d'abord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(transactions × items)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(item → TID-set)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des transactions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intersection de TID-sets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Mémoire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gourmande (gros TID-sets)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50292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algorithmes résolvent le même problème (trouver les itemsets fréquents) mais avec des stratégies opposées.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4 : Règles d'association (Apriori)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4f.  Comparaison Apriori vs Eclat sur nos données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 qu'on a les deux algorithmes, on les applique aux mêmes données et on compare leurs résultats.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Apriori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Eclat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A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Approche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Largeur d'abord (niveau par niveau)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Profondeur d'abord (vertical)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Représentation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Horizontale (transactions × items)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Verticale (items × TID-set)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Itemsets trouvés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 d'exécution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rapide (~0,008 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1600200"/>
            <a:ext cx="4663440" cy="411480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269480" y="1737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269480" y="2194560"/>
            <a:ext cx="4297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identiques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les deux algorithmes trouvent exactement les mêmes 617 itemsets fréquents — c'est attendu, ils cherchent la même chose, juste avec une stratégie différente.</a:t>
            </a:r>
            <a:endParaRPr lang="en-US" sz="115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Eclat est plus rapide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grâce à son format vertical, mais Apriori reste le plus utilisé pour son interprétabilité et son support natif dans mlxtend.</a:t>
            </a:r>
            <a:endParaRPr lang="en-US" sz="1150" dirty="0"/>
          </a:p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1 559 transactions, l'écart de performance est négligeable.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garde Apriori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 il est mieux documenté et plus simple à expliquer.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4 : Règles d'association (Apriori)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4g.  Profils-types des districts engagés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associations en 4 profils-types, chacun avec son action commerciale associée.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5778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128016" cy="196596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Précaires ruraux subventionnés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6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high_poverty + low_income + small_district + epa_2023 + rural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Petits districts ruraux à bas revenus et forte pauvreté, ciblés par le programme fédéral EPA 2023.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4937760" cy="18288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906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Action : </a:t>
            </a:r>
            <a:pPr indent="0" marL="0">
              <a:buNone/>
            </a:pPr>
            <a:r>
              <a:rPr lang="en-US" sz="105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avant des subventions, accompagnement administratif.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600200"/>
            <a:ext cx="55778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600200"/>
            <a:ext cx="128016" cy="1965960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Grands districts en opération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2103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6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operating + large_district + high_need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25146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Grands districts ayant déjà des bus électriques en opération, à forts besoins scolaires.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3017520"/>
            <a:ext cx="4937760" cy="18288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0906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Action : </a:t>
            </a:r>
            <a:pPr indent="0" marL="0">
              <a:buNone/>
            </a:pPr>
            <a:r>
              <a:rPr lang="en-US" sz="105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de flotte, services premium et maintenance.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55778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749040"/>
            <a:ext cx="128016" cy="196596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Aisés urbains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" y="4251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6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high_income + urban (souvent large_district)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6634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urbains à revenus élevés, généralement de grande taille.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5166360"/>
            <a:ext cx="4937760" cy="18288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23951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Action : </a:t>
            </a:r>
            <a:pPr indent="0" marL="0">
              <a:buNone/>
            </a:pPr>
            <a:r>
              <a:rPr lang="en-US" sz="105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standard, démonstration ROI et image écologique.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3749040"/>
            <a:ext cx="55778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3749040"/>
            <a:ext cx="128016" cy="196596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Charge polluante élevée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83680" y="4251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6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pollution_burden + epa_2023 + committed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0" y="46634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identifiés par EPA pour leur exposition à la pollution.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5166360"/>
            <a:ext cx="4937760" cy="18288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523951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Action : </a:t>
            </a:r>
            <a:pPr indent="0" marL="0">
              <a:buNone/>
            </a:pPr>
            <a:r>
              <a:rPr lang="en-US" sz="105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santé publique, partenariats locaux.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4 : Règles d'association (Apriori)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"/>
            <a:ext cx="164592" cy="64008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pistes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Démarche validée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617 itemsets fréquents extraits par Apriori (min_support = 5 %)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5 709 règles d'association générées (min_confidence = 40 %)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à Eclat : résultats identiques, choix d'Apriori validé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profils-types métier identifiés avec actions commerciales associées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09360" y="1645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&amp; pistes (B206)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09360" y="21031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règles redondantes (committed dans 100 % des transactions)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comparaison directe entre profils engagés et non-engagés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tester d'autres seuils support / confidence, explorer FP-Growth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5120640"/>
            <a:ext cx="10698480" cy="10058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12064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 : Apriori (min_support = 5 %, min_confidence = 40 %)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617 itemsets   ·   5 709 règles   ·   lift max 4,73   ·   4 profils métier identifiés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227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4 : Règles d'association (Apriori)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4 — Règles d'association (Apriori)</dc:title>
  <dc:subject>PptxGenJS Presentation</dc:subject>
  <dc:creator>Equipe ML II</dc:creator>
  <cp:lastModifiedBy>Equipe ML II</cp:lastModifiedBy>
  <cp:revision>1</cp:revision>
  <dcterms:created xsi:type="dcterms:W3CDTF">2026-05-27T15:55:26Z</dcterms:created>
  <dcterms:modified xsi:type="dcterms:W3CDTF">2026-05-27T15:55:26Z</dcterms:modified>
</cp:coreProperties>
</file>